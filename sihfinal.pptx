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Lst>
  <p:sldSz cx="18288000" cy="10287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88A83D-7F17-BE4A-F957-B8C61D172C59}" v="121" dt="2026-09-08T03:13:43.362"/>
    <p1510:client id="{D31ADC37-6554-4317-9097-8878556B68A1}" v="147" dt="2026-09-08T02:55:12.1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C7A9BC58-950E-441F-9261-17A636E7428F}"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uFillTx/>
                <a:latin typeface="Calibri"/>
              </a:defRPr>
            </a:lvl1pPr>
          </a:lstStyle>
          <a:p>
            <a:pPr indent="0" defTabSz="914400">
              <a:lnSpc>
                <a:spcPct val="100000"/>
              </a:lnSpc>
              <a:buNone/>
            </a:pPr>
            <a:r>
              <a:rPr lang="en-US" sz="1200" b="0" u="none" strike="noStrike">
                <a:solidFill>
                  <a:schemeClr val="dk1">
                    <a:tint val="75000"/>
                  </a:schemeClr>
                </a:solidFill>
                <a:uFillTx/>
                <a:latin typeface="Calibri"/>
              </a:rPr>
              <a:t>&lt;date/time&gt;</a:t>
            </a:r>
            <a:endParaRPr lang="en-US" sz="1200" b="0" u="none" strike="noStrike">
              <a:solidFill>
                <a:srgbClr val="000000"/>
              </a:solidFill>
              <a:uFillTx/>
              <a:latin typeface="Arial"/>
            </a:endParaRPr>
          </a:p>
        </p:txBody>
      </p:sp>
      <p:sp>
        <p:nvSpPr>
          <p:cNvPr id="6" name="PlaceHolder 2"/>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uFillTx/>
                <a:latin typeface="Arial"/>
              </a:defRPr>
            </a:lvl1pPr>
          </a:lstStyle>
          <a:p>
            <a:pPr indent="0" algn="ctr">
              <a:buNone/>
            </a:pPr>
            <a:r>
              <a:rPr lang="en-US" sz="1400" b="0" u="none" strike="noStrike">
                <a:solidFill>
                  <a:srgbClr val="000000"/>
                </a:solidFill>
                <a:uFillTx/>
                <a:latin typeface="Arial"/>
              </a:rPr>
              <a:t>&lt;footer&gt;</a:t>
            </a: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uFillTx/>
                <a:latin typeface="Calibri"/>
              </a:defRPr>
            </a:lvl1pPr>
          </a:lstStyle>
          <a:p>
            <a:pPr indent="0" algn="r" defTabSz="914400">
              <a:lnSpc>
                <a:spcPct val="100000"/>
              </a:lnSpc>
              <a:buNone/>
            </a:pPr>
            <a:fld id="{BD22D050-3328-4001-A585-4A232C3F1CD9}" type="slidenum">
              <a:rPr lang="en-US" sz="1200" b="0" u="none" strike="noStrike">
                <a:solidFill>
                  <a:schemeClr val="dk1">
                    <a:tint val="75000"/>
                  </a:schemeClr>
                </a:solidFill>
                <a:uFillTx/>
                <a:latin typeface="Calibri"/>
              </a:rPr>
              <a:t>‹#›</a:t>
            </a:fld>
            <a:endParaRPr lang="en-US" sz="1200" b="0" u="none" strike="noStrike">
              <a:solidFill>
                <a:srgbClr val="000000"/>
              </a:solidFill>
              <a:uFillTx/>
              <a:latin typeface="Arial"/>
            </a:endParaRPr>
          </a:p>
        </p:txBody>
      </p:sp>
      <p:sp>
        <p:nvSpPr>
          <p:cNvPr id="3"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r>
              <a:rPr lang="en-US" sz="1800" b="0" u="none" strike="noStrike">
                <a:solidFill>
                  <a:schemeClr val="dk1"/>
                </a:solidFill>
                <a:uFillTx/>
                <a:latin typeface="Calibri"/>
              </a:rPr>
              <a:t>Double-tap to edit the title text format</a:t>
            </a:r>
          </a:p>
        </p:txBody>
      </p:sp>
      <p:sp>
        <p:nvSpPr>
          <p:cNvPr id="4"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SzPct val="45000"/>
              <a:buFont typeface="Wingdings" charset="2"/>
              <a:buChar char=""/>
            </a:pPr>
            <a:r>
              <a:rPr lang="en-US" sz="3200" b="0" u="none" strike="noStrike">
                <a:solidFill>
                  <a:schemeClr val="dk1"/>
                </a:solidFill>
                <a:uFillTx/>
                <a:latin typeface="Calibri"/>
              </a:rPr>
              <a:t>Double-tap to edit the outline text format</a:t>
            </a:r>
          </a:p>
          <a:p>
            <a:pPr marL="864000" lvl="1" indent="-324000">
              <a:spcBef>
                <a:spcPts val="1134"/>
              </a:spcBef>
              <a:buSzPct val="75000"/>
              <a:buFont typeface="Symbol" charset="2"/>
              <a:buChar char=""/>
            </a:pPr>
            <a:r>
              <a:rPr lang="en-US" sz="2400" b="0" u="none" strike="noStrike">
                <a:solidFill>
                  <a:schemeClr val="dk1"/>
                </a:solidFill>
                <a:uFillTx/>
                <a:latin typeface="Calibri"/>
              </a:rPr>
              <a:t>Second Outline Level</a:t>
            </a:r>
          </a:p>
          <a:p>
            <a:pPr marL="1296000" lvl="2" indent="-288000">
              <a:spcBef>
                <a:spcPts val="850"/>
              </a:spcBef>
              <a:buSzPct val="45000"/>
              <a:buFont typeface="Wingdings" charset="2"/>
              <a:buChar char=""/>
            </a:pPr>
            <a:r>
              <a:rPr lang="en-US" sz="2000" b="0" u="none" strike="noStrike">
                <a:solidFill>
                  <a:schemeClr val="dk1"/>
                </a:solidFill>
                <a:uFillTx/>
                <a:latin typeface="Calibri"/>
              </a:rPr>
              <a:t>Third Outline Level</a:t>
            </a:r>
          </a:p>
          <a:p>
            <a:pPr marL="1728000" lvl="3" indent="-216000">
              <a:spcBef>
                <a:spcPts val="567"/>
              </a:spcBef>
              <a:buSzPct val="75000"/>
              <a:buFont typeface="Symbol" charset="2"/>
              <a:buChar char=""/>
            </a:pPr>
            <a:r>
              <a:rPr lang="en-US" sz="2000" b="0" u="none" strike="noStrike">
                <a:solidFill>
                  <a:schemeClr val="dk1"/>
                </a:solidFill>
                <a:uFillTx/>
                <a:latin typeface="Calibri"/>
              </a:rPr>
              <a:t>Fourth Outline Level</a:t>
            </a:r>
          </a:p>
          <a:p>
            <a:pPr marL="2160000" lvl="4" indent="-216000">
              <a:spcBef>
                <a:spcPts val="283"/>
              </a:spcBef>
              <a:buSzPct val="45000"/>
              <a:buFont typeface="Wingdings" charset="2"/>
              <a:buChar char=""/>
            </a:pPr>
            <a:r>
              <a:rPr lang="en-US" sz="2000" b="0" u="none" strike="noStrike">
                <a:solidFill>
                  <a:schemeClr val="dk1"/>
                </a:solidFill>
                <a:uFillTx/>
                <a:latin typeface="Calibri"/>
              </a:rPr>
              <a:t>Fifth Outline Level</a:t>
            </a:r>
          </a:p>
          <a:p>
            <a:pPr marL="2592000" lvl="5" indent="-216000">
              <a:spcBef>
                <a:spcPts val="283"/>
              </a:spcBef>
              <a:buSzPct val="45000"/>
              <a:buFont typeface="Wingdings" charset="2"/>
              <a:buChar char=""/>
            </a:pPr>
            <a:r>
              <a:rPr lang="en-US" sz="2000" b="0" u="none" strike="noStrike">
                <a:solidFill>
                  <a:schemeClr val="dk1"/>
                </a:solidFill>
                <a:uFillTx/>
                <a:latin typeface="Calibri"/>
              </a:rPr>
              <a:t>Sixth Outline Level</a:t>
            </a:r>
          </a:p>
          <a:p>
            <a:pPr marL="3024000" lvl="6" indent="-216000">
              <a:spcBef>
                <a:spcPts val="283"/>
              </a:spcBef>
              <a:buSzPct val="45000"/>
              <a:buFont typeface="Wingdings" charset="2"/>
              <a:buChar char=""/>
            </a:pPr>
            <a:r>
              <a:rPr lang="en-US" sz="2000" b="0" u="none" strike="noStrike">
                <a:solidFill>
                  <a:schemeClr val="dk1"/>
                </a:solidFill>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6.png"/><Relationship Id="rId7"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4.png"/><Relationship Id="rId10" Type="http://schemas.openxmlformats.org/officeDocument/2006/relationships/image" Target="../media/image27.png"/><Relationship Id="rId4" Type="http://schemas.openxmlformats.org/officeDocument/2006/relationships/image" Target="../media/image22.png"/><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2"/>
          <p:cNvSpPr/>
          <p:nvPr/>
        </p:nvSpPr>
        <p:spPr>
          <a:xfrm>
            <a:off x="8485200" y="1277280"/>
            <a:ext cx="6957720" cy="7732080"/>
          </a:xfrm>
          <a:custGeom>
            <a:avLst/>
            <a:gdLst>
              <a:gd name="textAreaLeft" fmla="*/ 0 w 6957720"/>
              <a:gd name="textAreaRight" fmla="*/ 6958080 w 6957720"/>
              <a:gd name="textAreaTop" fmla="*/ 0 h 7732080"/>
              <a:gd name="textAreaBottom" fmla="*/ 7732440 h 7732080"/>
            </a:gdLst>
            <a:ahLst/>
            <a:cxnLst/>
            <a:rect l="textAreaLeft" t="textAreaTop" r="textAreaRight" b="textAreaBottom"/>
            <a:pathLst>
              <a:path w="6957908" h="7732452">
                <a:moveTo>
                  <a:pt x="0" y="0"/>
                </a:moveTo>
                <a:lnTo>
                  <a:pt x="6957908" y="0"/>
                </a:lnTo>
                <a:lnTo>
                  <a:pt x="6957908" y="7732453"/>
                </a:lnTo>
                <a:lnTo>
                  <a:pt x="0" y="7732453"/>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grpSp>
        <p:nvGrpSpPr>
          <p:cNvPr id="6" name="Group 3"/>
          <p:cNvGrpSpPr/>
          <p:nvPr/>
        </p:nvGrpSpPr>
        <p:grpSpPr>
          <a:xfrm>
            <a:off x="10231560" y="2963160"/>
            <a:ext cx="4804920" cy="5139000"/>
            <a:chOff x="10231560" y="2963160"/>
            <a:chExt cx="4804920" cy="5139000"/>
          </a:xfrm>
        </p:grpSpPr>
        <p:sp>
          <p:nvSpPr>
            <p:cNvPr id="7" name="Freeform 4"/>
            <p:cNvSpPr/>
            <p:nvPr/>
          </p:nvSpPr>
          <p:spPr>
            <a:xfrm>
              <a:off x="10231560" y="2963160"/>
              <a:ext cx="4804920" cy="5139000"/>
            </a:xfrm>
            <a:custGeom>
              <a:avLst/>
              <a:gdLst>
                <a:gd name="textAreaLeft" fmla="*/ 0 w 4804920"/>
                <a:gd name="textAreaRight" fmla="*/ 4805280 w 4804920"/>
                <a:gd name="textAreaTop" fmla="*/ 0 h 5139000"/>
                <a:gd name="textAreaBottom" fmla="*/ 5139360 h 5139000"/>
              </a:gdLst>
              <a:ahLst/>
              <a:cxnLst/>
              <a:rect l="textAreaLeft" t="textAreaTop" r="textAreaRight" b="textAreaBottom"/>
              <a:pathLst>
                <a:path w="6407023" h="6852412">
                  <a:moveTo>
                    <a:pt x="0" y="0"/>
                  </a:moveTo>
                  <a:lnTo>
                    <a:pt x="6407023" y="0"/>
                  </a:lnTo>
                  <a:lnTo>
                    <a:pt x="6407023" y="6852412"/>
                  </a:lnTo>
                  <a:lnTo>
                    <a:pt x="0" y="6852412"/>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grpSp>
      <p:grpSp>
        <p:nvGrpSpPr>
          <p:cNvPr id="8" name="Group 5"/>
          <p:cNvGrpSpPr/>
          <p:nvPr/>
        </p:nvGrpSpPr>
        <p:grpSpPr>
          <a:xfrm>
            <a:off x="2274120" y="210600"/>
            <a:ext cx="12341880" cy="1621440"/>
            <a:chOff x="2274120" y="210600"/>
            <a:chExt cx="12341880" cy="1621440"/>
          </a:xfrm>
        </p:grpSpPr>
        <p:sp>
          <p:nvSpPr>
            <p:cNvPr id="9" name="Freeform 6"/>
            <p:cNvSpPr/>
            <p:nvPr/>
          </p:nvSpPr>
          <p:spPr>
            <a:xfrm>
              <a:off x="2274120" y="225000"/>
              <a:ext cx="12341880" cy="1607040"/>
            </a:xfrm>
            <a:custGeom>
              <a:avLst/>
              <a:gdLst>
                <a:gd name="textAreaLeft" fmla="*/ 0 w 12341880"/>
                <a:gd name="textAreaRight" fmla="*/ 12342240 w 12341880"/>
                <a:gd name="textAreaTop" fmla="*/ 0 h 1607040"/>
                <a:gd name="textAreaBottom" fmla="*/ 1607400 h 1607040"/>
              </a:gdLst>
              <a:ahLst/>
              <a:cxnLst/>
              <a:rect l="textAreaLeft" t="textAreaTop" r="textAreaRight" b="textAreaBottom"/>
              <a:pathLst>
                <a:path w="16456126" h="2143359">
                  <a:moveTo>
                    <a:pt x="0" y="0"/>
                  </a:moveTo>
                  <a:lnTo>
                    <a:pt x="16456126" y="0"/>
                  </a:lnTo>
                  <a:lnTo>
                    <a:pt x="16456126" y="2143359"/>
                  </a:lnTo>
                  <a:lnTo>
                    <a:pt x="0" y="2143359"/>
                  </a:lnTo>
                  <a:close/>
                </a:path>
              </a:pathLst>
            </a:custGeom>
            <a:blipFill rotWithShape="0">
              <a:blip r:embed="rId4">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0" name="TextBox 7"/>
            <p:cNvSpPr/>
            <p:nvPr/>
          </p:nvSpPr>
          <p:spPr>
            <a:xfrm>
              <a:off x="2274120" y="210600"/>
              <a:ext cx="12341880" cy="162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7200"/>
                </a:lnSpc>
              </a:pPr>
              <a:r>
                <a:rPr lang="en-US" sz="6000" b="1" u="none" strike="noStrike">
                  <a:solidFill>
                    <a:srgbClr val="1F497D"/>
                  </a:solidFill>
                  <a:uFillTx/>
                  <a:latin typeface="Garamond Bold"/>
                  <a:ea typeface="Garamond Bold"/>
                </a:rPr>
                <a:t>SMART INDIA HACKATHON 2026</a:t>
              </a:r>
              <a:endParaRPr lang="en-US" sz="6000" b="0" u="none" strike="noStrike">
                <a:solidFill>
                  <a:srgbClr val="000000"/>
                </a:solidFill>
                <a:uFillTx/>
                <a:latin typeface="Arial"/>
              </a:endParaRPr>
            </a:p>
          </p:txBody>
        </p:sp>
      </p:grpSp>
      <p:grpSp>
        <p:nvGrpSpPr>
          <p:cNvPr id="11" name="Group 8"/>
          <p:cNvGrpSpPr/>
          <p:nvPr/>
        </p:nvGrpSpPr>
        <p:grpSpPr>
          <a:xfrm>
            <a:off x="14616360" y="2160"/>
            <a:ext cx="3428280" cy="1571400"/>
            <a:chOff x="14616360" y="2160"/>
            <a:chExt cx="3428280" cy="1571400"/>
          </a:xfrm>
        </p:grpSpPr>
        <p:sp>
          <p:nvSpPr>
            <p:cNvPr id="12" name="Freeform 9"/>
            <p:cNvSpPr/>
            <p:nvPr/>
          </p:nvSpPr>
          <p:spPr>
            <a:xfrm>
              <a:off x="14616360" y="2160"/>
              <a:ext cx="3428280" cy="1571400"/>
            </a:xfrm>
            <a:custGeom>
              <a:avLst/>
              <a:gdLst>
                <a:gd name="textAreaLeft" fmla="*/ 0 w 3428280"/>
                <a:gd name="textAreaRight" fmla="*/ 3428640 w 3428280"/>
                <a:gd name="textAreaTop" fmla="*/ 0 h 1571400"/>
                <a:gd name="textAreaBottom" fmla="*/ 1571760 h 1571400"/>
              </a:gdLst>
              <a:ahLst/>
              <a:cxnLst/>
              <a:rect l="textAreaLeft" t="textAreaTop" r="textAreaRight" b="textAreaBottom"/>
              <a:pathLst>
                <a:path w="4571506" h="2095752">
                  <a:moveTo>
                    <a:pt x="0" y="0"/>
                  </a:moveTo>
                  <a:lnTo>
                    <a:pt x="4571506" y="0"/>
                  </a:lnTo>
                  <a:lnTo>
                    <a:pt x="4571506" y="2095752"/>
                  </a:lnTo>
                  <a:lnTo>
                    <a:pt x="0" y="2095752"/>
                  </a:lnTo>
                  <a:lnTo>
                    <a:pt x="0" y="0"/>
                  </a:lnTo>
                  <a:close/>
                </a:path>
              </a:pathLst>
            </a:cu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grpSp>
      <p:sp>
        <p:nvSpPr>
          <p:cNvPr id="13" name="TextBox 10"/>
          <p:cNvSpPr/>
          <p:nvPr/>
        </p:nvSpPr>
        <p:spPr>
          <a:xfrm>
            <a:off x="502920" y="1507320"/>
            <a:ext cx="9515160" cy="672780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628"/>
              </a:lnSpc>
            </a:pPr>
            <a:endParaRPr lang="en-US" sz="1800" b="0" u="none" strike="noStrike" dirty="0">
              <a:solidFill>
                <a:srgbClr val="000000"/>
              </a:solidFill>
              <a:uFillTx/>
              <a:latin typeface="Arial"/>
            </a:endParaRPr>
          </a:p>
          <a:p>
            <a:pPr marL="547200" lvl="1" indent="-273600" algn="just" defTabSz="914400">
              <a:lnSpc>
                <a:spcPts val="3628"/>
              </a:lnSpc>
              <a:buFont typeface="Arial"/>
              <a:buChar char="•"/>
            </a:pPr>
            <a:r>
              <a:rPr lang="en-US" sz="3020" b="1" u="none" strike="noStrike" dirty="0">
                <a:solidFill>
                  <a:srgbClr val="000000"/>
                </a:solidFill>
                <a:uFillTx/>
                <a:latin typeface="Arial Bold"/>
                <a:ea typeface="Arial Bold"/>
              </a:rPr>
              <a:t>Problem Statement ID – </a:t>
            </a:r>
            <a:r>
              <a:rPr lang="en-US" sz="3020" b="0" u="none" strike="noStrike" dirty="0">
                <a:solidFill>
                  <a:srgbClr val="000000"/>
                </a:solidFill>
                <a:uFillTx/>
                <a:latin typeface="Arial"/>
                <a:ea typeface="Arial"/>
              </a:rPr>
              <a:t>SIH26179</a:t>
            </a:r>
            <a:endParaRPr lang="en-US" sz="3020" b="0" u="none" strike="noStrike" dirty="0">
              <a:solidFill>
                <a:srgbClr val="000000"/>
              </a:solidFill>
              <a:uFillTx/>
              <a:latin typeface="Arial"/>
            </a:endParaRPr>
          </a:p>
          <a:p>
            <a:pPr marL="547200" indent="-273600" algn="just" defTabSz="914400">
              <a:lnSpc>
                <a:spcPts val="3628"/>
              </a:lnSpc>
              <a:tabLst>
                <a:tab pos="0" algn="l"/>
              </a:tabLst>
            </a:pPr>
            <a:endParaRPr lang="en-US" sz="1800" b="0" u="none" strike="noStrike" dirty="0">
              <a:solidFill>
                <a:srgbClr val="000000"/>
              </a:solidFill>
              <a:uFillTx/>
              <a:latin typeface="Arial"/>
            </a:endParaRPr>
          </a:p>
          <a:p>
            <a:pPr marL="596160" lvl="1" indent="-298080" defTabSz="914400">
              <a:lnSpc>
                <a:spcPts val="3954"/>
              </a:lnSpc>
              <a:buFont typeface="Arial"/>
              <a:buChar char="•"/>
              <a:tabLst>
                <a:tab pos="0" algn="l"/>
              </a:tabLst>
            </a:pPr>
            <a:r>
              <a:rPr lang="en-US" sz="3290" b="1" u="none" strike="noStrike" dirty="0">
                <a:solidFill>
                  <a:srgbClr val="000000"/>
                </a:solidFill>
                <a:uFillTx/>
                <a:latin typeface="Calibri (MS) Bold"/>
                <a:ea typeface="Calibri (MS) Bold"/>
              </a:rPr>
              <a:t>Problem Statement Title- </a:t>
            </a:r>
            <a:r>
              <a:rPr lang="en-US" sz="3290" b="0" i="1" u="none" strike="noStrike" dirty="0">
                <a:solidFill>
                  <a:srgbClr val="000000"/>
                </a:solidFill>
                <a:uFillTx/>
                <a:latin typeface="Calibri (MS) Italics"/>
                <a:ea typeface="Calibri (MS) Italics"/>
              </a:rPr>
              <a:t> </a:t>
            </a:r>
            <a:r>
              <a:rPr lang="en-US" sz="3290" b="0" u="none" strike="noStrike" dirty="0">
                <a:solidFill>
                  <a:srgbClr val="000000"/>
                </a:solidFill>
                <a:uFillTx/>
                <a:latin typeface="Calibri (MS)"/>
                <a:ea typeface="Calibri (MS)"/>
              </a:rPr>
              <a:t>An Edge AI-powered platform for real-time shopper analytics, inventory monitoring, and queue management—reducing stock-outs, optimizing operations, and ensuring privacy with minimal cloud dependency.</a:t>
            </a:r>
            <a:endParaRPr lang="en-US" sz="3290" b="0" u="none" strike="noStrike" dirty="0">
              <a:solidFill>
                <a:srgbClr val="000000"/>
              </a:solidFill>
              <a:uFillTx/>
              <a:latin typeface="Arial"/>
            </a:endParaRPr>
          </a:p>
          <a:p>
            <a:pPr defTabSz="914400">
              <a:lnSpc>
                <a:spcPts val="3954"/>
              </a:lnSpc>
              <a:tabLst>
                <a:tab pos="0" algn="l"/>
              </a:tabLst>
            </a:pPr>
            <a:endParaRPr lang="en-US" sz="1800" b="0" u="none" strike="noStrike" dirty="0">
              <a:solidFill>
                <a:srgbClr val="000000"/>
              </a:solidFill>
              <a:uFillTx/>
              <a:latin typeface="Arial"/>
            </a:endParaRPr>
          </a:p>
          <a:p>
            <a:pPr marL="628560" lvl="1" indent="-314280" algn="just" defTabSz="914400">
              <a:lnSpc>
                <a:spcPts val="4167"/>
              </a:lnSpc>
              <a:buFont typeface="Arial"/>
              <a:buChar char="•"/>
              <a:tabLst>
                <a:tab pos="0" algn="l"/>
              </a:tabLst>
            </a:pPr>
            <a:r>
              <a:rPr lang="en-US" sz="3470" b="1" u="none" strike="noStrike" dirty="0">
                <a:solidFill>
                  <a:srgbClr val="000000"/>
                </a:solidFill>
                <a:uFillTx/>
                <a:latin typeface="Calibri (MS) Bold"/>
                <a:ea typeface="Calibri (MS) Bold"/>
              </a:rPr>
              <a:t>Theme- </a:t>
            </a:r>
            <a:r>
              <a:rPr lang="en-US" sz="3470" b="0" u="none" strike="noStrike" dirty="0">
                <a:solidFill>
                  <a:srgbClr val="000000"/>
                </a:solidFill>
                <a:uFillTx/>
                <a:latin typeface="Calibri (MS)"/>
                <a:ea typeface="Calibri (MS)"/>
              </a:rPr>
              <a:t>Miscellaneous</a:t>
            </a:r>
            <a:endParaRPr lang="en-US" sz="3470" b="0" u="none" strike="noStrike" dirty="0">
              <a:solidFill>
                <a:srgbClr val="000000"/>
              </a:solidFill>
              <a:uFillTx/>
              <a:latin typeface="Arial"/>
            </a:endParaRPr>
          </a:p>
          <a:p>
            <a:pPr marL="547200" lvl="1" indent="-273600" algn="just" defTabSz="914400">
              <a:lnSpc>
                <a:spcPts val="7254"/>
              </a:lnSpc>
              <a:buFont typeface="Arial"/>
              <a:buChar char="•"/>
              <a:tabLst>
                <a:tab pos="0" algn="l"/>
              </a:tabLst>
            </a:pPr>
            <a:r>
              <a:rPr lang="en-US" sz="3020" b="1" u="none" strike="noStrike" dirty="0">
                <a:solidFill>
                  <a:srgbClr val="000000"/>
                </a:solidFill>
                <a:uFillTx/>
                <a:latin typeface="Arial Bold"/>
                <a:ea typeface="Arial Bold"/>
              </a:rPr>
              <a:t>PS Category- </a:t>
            </a:r>
            <a:r>
              <a:rPr lang="en-US" sz="3020" b="0" u="none" strike="noStrike" dirty="0">
                <a:solidFill>
                  <a:srgbClr val="000000"/>
                </a:solidFill>
                <a:uFillTx/>
                <a:latin typeface="Arial"/>
                <a:ea typeface="Arial"/>
              </a:rPr>
              <a:t>Hardware</a:t>
            </a:r>
            <a:endParaRPr lang="en-US" sz="3020" b="0" u="none" strike="noStrike" dirty="0">
              <a:solidFill>
                <a:srgbClr val="000000"/>
              </a:solidFill>
              <a:uFillTx/>
              <a:latin typeface="Arial"/>
            </a:endParaRPr>
          </a:p>
          <a:p>
            <a:pPr marL="547200" lvl="1" indent="-273600" algn="just" defTabSz="914400">
              <a:lnSpc>
                <a:spcPts val="7254"/>
              </a:lnSpc>
              <a:buFont typeface="Arial"/>
              <a:buChar char="•"/>
              <a:tabLst>
                <a:tab pos="0" algn="l"/>
              </a:tabLst>
            </a:pPr>
            <a:r>
              <a:rPr lang="en-US" sz="3020" b="1" u="none" strike="noStrike" dirty="0">
                <a:solidFill>
                  <a:srgbClr val="000000"/>
                </a:solidFill>
                <a:uFillTx/>
                <a:latin typeface="Arial Bold"/>
                <a:ea typeface="Arial Bold"/>
              </a:rPr>
              <a:t>Team Name </a:t>
            </a:r>
            <a:r>
              <a:rPr lang="en-US" sz="3020" b="1" dirty="0">
                <a:solidFill>
                  <a:srgbClr val="000000"/>
                </a:solidFill>
                <a:latin typeface="Arial Bold"/>
                <a:ea typeface="Arial Bold"/>
              </a:rPr>
              <a:t>- </a:t>
            </a:r>
            <a:r>
              <a:rPr lang="en-US" sz="3020" dirty="0" err="1">
                <a:solidFill>
                  <a:srgbClr val="000000"/>
                </a:solidFill>
                <a:ea typeface="Arial Bold"/>
              </a:rPr>
              <a:t>TechGladiators</a:t>
            </a:r>
            <a:endParaRPr lang="en-US" sz="3020" u="none" strike="noStrike" dirty="0">
              <a:solidFill>
                <a:srgbClr val="000000"/>
              </a:solidFill>
              <a:uFillTx/>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2"/>
          <p:cNvGrpSpPr/>
          <p:nvPr/>
        </p:nvGrpSpPr>
        <p:grpSpPr>
          <a:xfrm>
            <a:off x="0" y="9532080"/>
            <a:ext cx="18287640" cy="754560"/>
            <a:chOff x="0" y="9532080"/>
            <a:chExt cx="18287640" cy="754560"/>
          </a:xfrm>
        </p:grpSpPr>
        <p:sp>
          <p:nvSpPr>
            <p:cNvPr id="15" name="Freeform 3"/>
            <p:cNvSpPr/>
            <p:nvPr/>
          </p:nvSpPr>
          <p:spPr>
            <a:xfrm>
              <a:off x="0" y="9532080"/>
              <a:ext cx="18287640" cy="754560"/>
            </a:xfrm>
            <a:custGeom>
              <a:avLst/>
              <a:gdLst>
                <a:gd name="textAreaLeft" fmla="*/ 0 w 18287640"/>
                <a:gd name="textAreaRight" fmla="*/ 18288000 w 18287640"/>
                <a:gd name="textAreaTop" fmla="*/ 0 h 754560"/>
                <a:gd name="textAreaBottom" fmla="*/ 754920 h 754560"/>
              </a:gdLst>
              <a:ahLst/>
              <a:cxnLst/>
              <a:rect l="textAreaLeft" t="textAreaTop" r="textAreaRight" b="textAreaBottom"/>
              <a:pathLst>
                <a:path w="24384000" h="1006475">
                  <a:moveTo>
                    <a:pt x="0" y="0"/>
                  </a:moveTo>
                  <a:lnTo>
                    <a:pt x="24384000" y="0"/>
                  </a:lnTo>
                  <a:lnTo>
                    <a:pt x="24384000" y="1006475"/>
                  </a:lnTo>
                  <a:lnTo>
                    <a:pt x="0" y="1006475"/>
                  </a:lnTo>
                  <a:close/>
                </a:path>
              </a:pathLst>
            </a:custGeom>
            <a:solidFill>
              <a:srgbClr val="0070C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uFillTx/>
                <a:latin typeface="Arial"/>
              </a:endParaRPr>
            </a:p>
          </p:txBody>
        </p:sp>
      </p:grpSp>
      <p:grpSp>
        <p:nvGrpSpPr>
          <p:cNvPr id="16" name="Group 4"/>
          <p:cNvGrpSpPr/>
          <p:nvPr/>
        </p:nvGrpSpPr>
        <p:grpSpPr>
          <a:xfrm>
            <a:off x="2523919" y="1000080"/>
            <a:ext cx="12715961" cy="1265343"/>
            <a:chOff x="2540484" y="1000080"/>
            <a:chExt cx="12699396" cy="1480690"/>
          </a:xfrm>
        </p:grpSpPr>
        <p:sp>
          <p:nvSpPr>
            <p:cNvPr id="17" name="Freeform 5"/>
            <p:cNvSpPr/>
            <p:nvPr/>
          </p:nvSpPr>
          <p:spPr>
            <a:xfrm>
              <a:off x="2656440" y="1028880"/>
              <a:ext cx="12583440" cy="1418760"/>
            </a:xfrm>
            <a:custGeom>
              <a:avLst/>
              <a:gdLst>
                <a:gd name="textAreaLeft" fmla="*/ 0 w 12583440"/>
                <a:gd name="textAreaRight" fmla="*/ 12583800 w 12583440"/>
                <a:gd name="textAreaTop" fmla="*/ 0 h 1418760"/>
                <a:gd name="textAreaBottom" fmla="*/ 1419120 h 1418760"/>
              </a:gdLst>
              <a:ahLst/>
              <a:cxnLst/>
              <a:rect l="textAreaLeft" t="textAreaTop" r="textAreaRight" b="textAreaBottom"/>
              <a:pathLst>
                <a:path w="16778210" h="1892380">
                  <a:moveTo>
                    <a:pt x="0" y="0"/>
                  </a:moveTo>
                  <a:lnTo>
                    <a:pt x="16778210" y="0"/>
                  </a:lnTo>
                  <a:lnTo>
                    <a:pt x="16778210" y="1892380"/>
                  </a:lnTo>
                  <a:lnTo>
                    <a:pt x="0" y="1892380"/>
                  </a:lnTo>
                  <a:close/>
                </a:path>
              </a:pathLst>
            </a:custGeom>
            <a:blipFill rotWithShape="0">
              <a:blip r:embed="rId2">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8" name="TextBox 6"/>
            <p:cNvSpPr/>
            <p:nvPr/>
          </p:nvSpPr>
          <p:spPr>
            <a:xfrm>
              <a:off x="2540484" y="1000080"/>
              <a:ext cx="12600005" cy="148069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ts val="7920"/>
                </a:lnSpc>
              </a:pPr>
              <a:r>
                <a:rPr lang="en-US" sz="6600" b="1" u="none" strike="noStrike" dirty="0">
                  <a:solidFill>
                    <a:srgbClr val="000000"/>
                  </a:solidFill>
                  <a:uFillTx/>
                  <a:latin typeface="Arimo Bold"/>
                  <a:ea typeface="Arimo Bold"/>
                </a:rPr>
                <a:t>IDEA TITLE : </a:t>
              </a:r>
              <a:r>
                <a:rPr lang="en-US" sz="6600" b="1" dirty="0">
                  <a:solidFill>
                    <a:srgbClr val="000000"/>
                  </a:solidFill>
                  <a:latin typeface="Arimo Bold"/>
                  <a:ea typeface="Arimo Bold"/>
                </a:rPr>
                <a:t>StoreMind-</a:t>
              </a:r>
              <a:r>
                <a:rPr lang="en-US" sz="6600" dirty="0">
                  <a:solidFill>
                    <a:srgbClr val="000000"/>
                  </a:solidFill>
                  <a:latin typeface="arial"/>
                  <a:ea typeface="Arimo Bold"/>
                  <a:cs typeface="arial"/>
                </a:rPr>
                <a:t>Retail</a:t>
              </a:r>
              <a:r>
                <a:rPr lang="en-US" sz="6600" b="0" u="none" strike="noStrike" dirty="0">
                  <a:solidFill>
                    <a:srgbClr val="000000"/>
                  </a:solidFill>
                  <a:uFillTx/>
                  <a:latin typeface="arial"/>
                  <a:ea typeface="arial"/>
                </a:rPr>
                <a:t> By The Edge</a:t>
              </a:r>
              <a:endParaRPr lang="en-US" sz="6600" b="0" u="none" strike="noStrike" dirty="0">
                <a:solidFill>
                  <a:srgbClr val="000000"/>
                </a:solidFill>
                <a:uFillTx/>
                <a:latin typeface="Arial"/>
              </a:endParaRPr>
            </a:p>
          </p:txBody>
        </p:sp>
      </p:grpSp>
      <p:grpSp>
        <p:nvGrpSpPr>
          <p:cNvPr id="20" name="Group 8"/>
          <p:cNvGrpSpPr/>
          <p:nvPr/>
        </p:nvGrpSpPr>
        <p:grpSpPr>
          <a:xfrm>
            <a:off x="13106520" y="9520200"/>
            <a:ext cx="4266720" cy="561600"/>
            <a:chOff x="13106520" y="9520200"/>
            <a:chExt cx="4266720" cy="561600"/>
          </a:xfrm>
        </p:grpSpPr>
        <p:sp>
          <p:nvSpPr>
            <p:cNvPr id="21" name="Freeform 9"/>
            <p:cNvSpPr/>
            <p:nvPr/>
          </p:nvSpPr>
          <p:spPr>
            <a:xfrm>
              <a:off x="13106520" y="9534600"/>
              <a:ext cx="4266720" cy="547200"/>
            </a:xfrm>
            <a:custGeom>
              <a:avLst/>
              <a:gdLst>
                <a:gd name="textAreaLeft" fmla="*/ 0 w 4266720"/>
                <a:gd name="textAreaRight" fmla="*/ 4267080 w 4266720"/>
                <a:gd name="textAreaTop" fmla="*/ 0 h 547200"/>
                <a:gd name="textAreaBottom" fmla="*/ 547560 h 547200"/>
              </a:gdLst>
              <a:ahLst/>
              <a:cxnLst/>
              <a:rect l="textAreaLeft" t="textAreaTop" r="textAreaRight" b="textAreaBottom"/>
              <a:pathLst>
                <a:path w="5689600" h="730250">
                  <a:moveTo>
                    <a:pt x="0" y="0"/>
                  </a:moveTo>
                  <a:lnTo>
                    <a:pt x="5689600" y="0"/>
                  </a:lnTo>
                  <a:lnTo>
                    <a:pt x="5689600" y="730250"/>
                  </a:lnTo>
                  <a:lnTo>
                    <a:pt x="0" y="730250"/>
                  </a:lnTo>
                  <a:close/>
                </a:path>
              </a:pathLst>
            </a:custGeom>
            <a:blipFill rotWithShape="0">
              <a:blip r:embed="rId3">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22" name="TextBox 10"/>
            <p:cNvSpPr/>
            <p:nvPr/>
          </p:nvSpPr>
          <p:spPr>
            <a:xfrm>
              <a:off x="13106520" y="9520200"/>
              <a:ext cx="4266720" cy="56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ts val="2160"/>
                </a:lnSpc>
              </a:pPr>
              <a:r>
                <a:rPr lang="en-US" sz="1800" b="1" u="none" strike="noStrike">
                  <a:solidFill>
                    <a:srgbClr val="FFFFFF"/>
                  </a:solidFill>
                  <a:uFillTx/>
                  <a:latin typeface="Arimo Bold"/>
                  <a:ea typeface="Arimo Bold"/>
                </a:rPr>
                <a:t>2</a:t>
              </a:r>
              <a:endParaRPr lang="en-US" sz="1800" b="0" u="none" strike="noStrike">
                <a:solidFill>
                  <a:srgbClr val="000000"/>
                </a:solidFill>
                <a:uFillTx/>
                <a:latin typeface="Arial"/>
              </a:endParaRPr>
            </a:p>
          </p:txBody>
        </p:sp>
      </p:grpSp>
      <p:grpSp>
        <p:nvGrpSpPr>
          <p:cNvPr id="23" name="Group 11"/>
          <p:cNvGrpSpPr/>
          <p:nvPr/>
        </p:nvGrpSpPr>
        <p:grpSpPr>
          <a:xfrm>
            <a:off x="6972480" y="9520200"/>
            <a:ext cx="4805640" cy="561600"/>
            <a:chOff x="6972480" y="9520200"/>
            <a:chExt cx="4805640" cy="561600"/>
          </a:xfrm>
        </p:grpSpPr>
        <p:sp>
          <p:nvSpPr>
            <p:cNvPr id="24" name="Freeform 12"/>
            <p:cNvSpPr/>
            <p:nvPr/>
          </p:nvSpPr>
          <p:spPr>
            <a:xfrm>
              <a:off x="6972480" y="9534600"/>
              <a:ext cx="4805640" cy="547200"/>
            </a:xfrm>
            <a:custGeom>
              <a:avLst/>
              <a:gdLst>
                <a:gd name="textAreaLeft" fmla="*/ 0 w 4805640"/>
                <a:gd name="textAreaRight" fmla="*/ 4806000 w 4805640"/>
                <a:gd name="textAreaTop" fmla="*/ 0 h 547200"/>
                <a:gd name="textAreaBottom" fmla="*/ 547560 h 547200"/>
              </a:gdLst>
              <a:ahLst/>
              <a:cxnLst/>
              <a:rect l="textAreaLeft" t="textAreaTop" r="textAreaRight" b="textAreaBottom"/>
              <a:pathLst>
                <a:path w="6408000" h="730250">
                  <a:moveTo>
                    <a:pt x="0" y="0"/>
                  </a:moveTo>
                  <a:lnTo>
                    <a:pt x="6408000" y="0"/>
                  </a:lnTo>
                  <a:lnTo>
                    <a:pt x="6408000" y="730250"/>
                  </a:lnTo>
                  <a:lnTo>
                    <a:pt x="0" y="730250"/>
                  </a:lnTo>
                  <a:close/>
                </a:path>
              </a:pathLst>
            </a:custGeom>
            <a:blipFill rotWithShape="0">
              <a:blip r:embed="rId4">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25" name="TextBox 13"/>
            <p:cNvSpPr/>
            <p:nvPr/>
          </p:nvSpPr>
          <p:spPr>
            <a:xfrm>
              <a:off x="6972480" y="9520200"/>
              <a:ext cx="4805640" cy="56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2160"/>
                </a:lnSpc>
              </a:pPr>
              <a:r>
                <a:rPr lang="en-US" sz="1800" b="0" u="none" strike="noStrike">
                  <a:solidFill>
                    <a:srgbClr val="FFFFFF"/>
                  </a:solidFill>
                  <a:uFillTx/>
                  <a:latin typeface="arial"/>
                  <a:ea typeface="arial"/>
                </a:rPr>
                <a:t> </a:t>
              </a:r>
              <a:endParaRPr lang="en-US" sz="1800" b="0" u="none" strike="noStrike">
                <a:solidFill>
                  <a:srgbClr val="000000"/>
                </a:solidFill>
                <a:uFillTx/>
                <a:latin typeface="Arial"/>
              </a:endParaRPr>
            </a:p>
          </p:txBody>
        </p:sp>
      </p:grpSp>
      <p:grpSp>
        <p:nvGrpSpPr>
          <p:cNvPr id="26" name="Group 14"/>
          <p:cNvGrpSpPr/>
          <p:nvPr/>
        </p:nvGrpSpPr>
        <p:grpSpPr>
          <a:xfrm>
            <a:off x="186120" y="95400"/>
            <a:ext cx="1971720" cy="1291680"/>
            <a:chOff x="186120" y="95400"/>
            <a:chExt cx="1971720" cy="1291680"/>
          </a:xfrm>
        </p:grpSpPr>
        <p:sp>
          <p:nvSpPr>
            <p:cNvPr id="27" name="Freeform 15"/>
            <p:cNvSpPr/>
            <p:nvPr/>
          </p:nvSpPr>
          <p:spPr>
            <a:xfrm>
              <a:off x="186120" y="95400"/>
              <a:ext cx="1971720" cy="1291680"/>
            </a:xfrm>
            <a:custGeom>
              <a:avLst/>
              <a:gdLst>
                <a:gd name="textAreaLeft" fmla="*/ 0 w 1915560"/>
                <a:gd name="textAreaRight" fmla="*/ 1915920 w 1915560"/>
                <a:gd name="textAreaTop" fmla="*/ 0 h 1248840"/>
                <a:gd name="textAreaBottom" fmla="*/ 1249200 h 1248840"/>
              </a:gdLst>
              <a:ahLst/>
              <a:cxnLst/>
              <a:rect l="textAreaLeft" t="textAreaTop" r="textAreaRight" b="textAreaBottom"/>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dirty="0">
                <a:solidFill>
                  <a:srgbClr val="000000"/>
                </a:solidFill>
                <a:latin typeface="Arial"/>
              </a:endParaRPr>
            </a:p>
            <a:p>
              <a:endParaRPr lang="en-US" b="0" u="none" strike="noStrike" dirty="0">
                <a:solidFill>
                  <a:srgbClr val="000000"/>
                </a:solidFill>
                <a:uFillTx/>
                <a:latin typeface="Arial"/>
              </a:endParaRPr>
            </a:p>
            <a:p>
              <a:r>
                <a:rPr lang="en-US" dirty="0">
                  <a:solidFill>
                    <a:srgbClr val="000000"/>
                  </a:solidFill>
                  <a:latin typeface="Arial"/>
                </a:rPr>
                <a:t>  Tech Gladiators</a:t>
              </a:r>
              <a:endParaRPr lang="en-US" b="0" u="none" strike="noStrike" dirty="0">
                <a:solidFill>
                  <a:srgbClr val="000000"/>
                </a:solidFill>
                <a:uFillTx/>
                <a:latin typeface="Arial"/>
              </a:endParaRPr>
            </a:p>
          </p:txBody>
        </p:sp>
        <p:sp>
          <p:nvSpPr>
            <p:cNvPr id="28" name="TextBox 16"/>
            <p:cNvSpPr/>
            <p:nvPr/>
          </p:nvSpPr>
          <p:spPr>
            <a:xfrm>
              <a:off x="242280" y="95400"/>
              <a:ext cx="1915560" cy="12916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240"/>
                </a:lnSpc>
              </a:pPr>
              <a:endParaRPr lang="en-US" sz="2700" b="0" u="none" strike="noStrike" dirty="0">
                <a:solidFill>
                  <a:srgbClr val="000000"/>
                </a:solidFill>
                <a:uFillTx/>
                <a:latin typeface="Arial"/>
              </a:endParaRPr>
            </a:p>
          </p:txBody>
        </p:sp>
      </p:grpSp>
      <p:sp>
        <p:nvSpPr>
          <p:cNvPr id="30" name="Freeform 18"/>
          <p:cNvSpPr/>
          <p:nvPr/>
        </p:nvSpPr>
        <p:spPr>
          <a:xfrm>
            <a:off x="8824320" y="5323680"/>
            <a:ext cx="6998400" cy="2576880"/>
          </a:xfrm>
          <a:custGeom>
            <a:avLst/>
            <a:gdLst>
              <a:gd name="textAreaLeft" fmla="*/ 0 w 6998400"/>
              <a:gd name="textAreaRight" fmla="*/ 6998760 w 6998400"/>
              <a:gd name="textAreaTop" fmla="*/ 0 h 2576880"/>
              <a:gd name="textAreaBottom" fmla="*/ 2577240 h 2576880"/>
            </a:gdLst>
            <a:ahLst/>
            <a:cxnLst/>
            <a:rect l="textAreaLeft" t="textAreaTop" r="textAreaRight" b="textAreaBottom"/>
            <a:pathLst>
              <a:path w="6998911" h="2774686">
                <a:moveTo>
                  <a:pt x="0" y="0"/>
                </a:moveTo>
                <a:lnTo>
                  <a:pt x="6998911" y="0"/>
                </a:lnTo>
                <a:lnTo>
                  <a:pt x="6998911" y="2774686"/>
                </a:lnTo>
                <a:lnTo>
                  <a:pt x="0" y="2774686"/>
                </a:lnTo>
                <a:lnTo>
                  <a:pt x="0" y="0"/>
                </a:lnTo>
                <a:close/>
              </a:path>
            </a:pathLst>
          </a:custGeom>
          <a:blipFill rotWithShape="0">
            <a:blip r:embed="rId5">
              <a:alphaModFix amt="60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31" name="Freeform 19"/>
          <p:cNvSpPr/>
          <p:nvPr/>
        </p:nvSpPr>
        <p:spPr>
          <a:xfrm>
            <a:off x="1869120" y="5406480"/>
            <a:ext cx="6683040" cy="2494080"/>
          </a:xfrm>
          <a:custGeom>
            <a:avLst/>
            <a:gdLst>
              <a:gd name="textAreaLeft" fmla="*/ 0 w 6683040"/>
              <a:gd name="textAreaRight" fmla="*/ 6683400 w 6683040"/>
              <a:gd name="textAreaTop" fmla="*/ 0 h 2494080"/>
              <a:gd name="textAreaBottom" fmla="*/ 2494440 h 2494080"/>
            </a:gdLst>
            <a:ahLst/>
            <a:cxnLst/>
            <a:rect l="textAreaLeft" t="textAreaTop" r="textAreaRight" b="textAreaBottom"/>
            <a:pathLst>
              <a:path w="6683463" h="2774003">
                <a:moveTo>
                  <a:pt x="0" y="0"/>
                </a:moveTo>
                <a:lnTo>
                  <a:pt x="6683463" y="0"/>
                </a:lnTo>
                <a:lnTo>
                  <a:pt x="6683463" y="2774003"/>
                </a:lnTo>
                <a:lnTo>
                  <a:pt x="0" y="2774003"/>
                </a:lnTo>
                <a:lnTo>
                  <a:pt x="0" y="0"/>
                </a:lnTo>
                <a:close/>
              </a:path>
            </a:pathLst>
          </a:custGeom>
          <a:blipFill rotWithShape="0">
            <a:blip r:embed="rId6">
              <a:alphaModFix amt="59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32" name="Freeform 20"/>
          <p:cNvSpPr/>
          <p:nvPr/>
        </p:nvSpPr>
        <p:spPr>
          <a:xfrm>
            <a:off x="15239880" y="7381800"/>
            <a:ext cx="794160" cy="1038240"/>
          </a:xfrm>
          <a:custGeom>
            <a:avLst/>
            <a:gdLst>
              <a:gd name="textAreaLeft" fmla="*/ 0 w 794160"/>
              <a:gd name="textAreaRight" fmla="*/ 794520 w 794160"/>
              <a:gd name="textAreaTop" fmla="*/ 0 h 1038240"/>
              <a:gd name="textAreaBottom" fmla="*/ 1038600 h 1038240"/>
            </a:gdLst>
            <a:ahLst/>
            <a:cxnLst/>
            <a:rect l="textAreaLeft" t="textAreaTop" r="textAreaRight" b="textAreaBottom"/>
            <a:pathLst>
              <a:path w="794532" h="1038604">
                <a:moveTo>
                  <a:pt x="0" y="0"/>
                </a:moveTo>
                <a:lnTo>
                  <a:pt x="794532" y="0"/>
                </a:lnTo>
                <a:lnTo>
                  <a:pt x="794532" y="1038604"/>
                </a:lnTo>
                <a:lnTo>
                  <a:pt x="0" y="1038604"/>
                </a:lnTo>
                <a:lnTo>
                  <a:pt x="0" y="0"/>
                </a:lnTo>
                <a:close/>
              </a:path>
            </a:pathLst>
          </a:custGeom>
          <a:blipFill rotWithShape="0">
            <a:blip r:embed="rId7"/>
            <a:srcRect/>
            <a:stretch>
              <a:fillRect l="-22" t="-17" r="-22" b="-17"/>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34" name="TextBox 22"/>
          <p:cNvSpPr/>
          <p:nvPr/>
        </p:nvSpPr>
        <p:spPr>
          <a:xfrm>
            <a:off x="9143280" y="5486040"/>
            <a:ext cx="6360480" cy="22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648360" lvl="1" indent="-324000" defTabSz="914400">
              <a:lnSpc>
                <a:spcPts val="3603"/>
              </a:lnSpc>
              <a:buFont typeface="Arial"/>
              <a:buChar char="•"/>
            </a:pPr>
            <a:r>
              <a:rPr lang="en-US" sz="3000" b="1" u="none" strike="noStrike">
                <a:solidFill>
                  <a:srgbClr val="000000"/>
                </a:solidFill>
                <a:uFillTx/>
                <a:latin typeface="Calibri (MS) Bold"/>
                <a:ea typeface="Calibri (MS) Bold"/>
              </a:rPr>
              <a:t>Innovation and uniqueness of the solution </a:t>
            </a:r>
            <a:r>
              <a:rPr lang="en-US" sz="3000" b="0" u="none" strike="noStrike">
                <a:solidFill>
                  <a:srgbClr val="000000"/>
                </a:solidFill>
                <a:uFillTx/>
                <a:latin typeface="Calibri (MS)"/>
                <a:ea typeface="Calibri (MS)"/>
              </a:rPr>
              <a:t>: Privacy-first, fully offline system with no video/facial data storage or cloud dependency.</a:t>
            </a:r>
            <a:endParaRPr lang="en-US" sz="3000" b="0" u="none" strike="noStrike">
              <a:solidFill>
                <a:srgbClr val="000000"/>
              </a:solidFill>
              <a:uFillTx/>
              <a:latin typeface="Arial"/>
            </a:endParaRPr>
          </a:p>
        </p:txBody>
      </p:sp>
      <p:sp>
        <p:nvSpPr>
          <p:cNvPr id="35" name="TextBox 23"/>
          <p:cNvSpPr/>
          <p:nvPr/>
        </p:nvSpPr>
        <p:spPr>
          <a:xfrm>
            <a:off x="1958040" y="5532840"/>
            <a:ext cx="6593760" cy="229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651240" lvl="1" indent="-325440" defTabSz="914400">
              <a:lnSpc>
                <a:spcPts val="3620"/>
              </a:lnSpc>
              <a:buFont typeface="Arial"/>
              <a:buChar char="•"/>
            </a:pPr>
            <a:r>
              <a:rPr lang="en-US" sz="3020" b="1" u="sng" strike="noStrike" dirty="0">
                <a:solidFill>
                  <a:srgbClr val="1F497D"/>
                </a:solidFill>
                <a:uFillTx/>
                <a:latin typeface="Calibri (MS) Bold"/>
                <a:ea typeface="Calibri (MS) Bold"/>
              </a:rPr>
              <a:t> </a:t>
            </a:r>
            <a:r>
              <a:rPr lang="en-US" sz="3020" b="1" u="none" strike="noStrike" dirty="0">
                <a:solidFill>
                  <a:srgbClr val="000000"/>
                </a:solidFill>
                <a:uFillTx/>
                <a:latin typeface="Calibri (MS) Bold"/>
                <a:ea typeface="Calibri (MS) Bold"/>
              </a:rPr>
              <a:t>How it addresses the problem:</a:t>
            </a:r>
            <a:r>
              <a:rPr lang="en-US" sz="3020" b="0" u="none" strike="noStrike" dirty="0">
                <a:solidFill>
                  <a:srgbClr val="000000"/>
                </a:solidFill>
                <a:uFillTx/>
                <a:latin typeface="Calibri (MS)"/>
                <a:ea typeface="Calibri (MS)"/>
              </a:rPr>
              <a:t> Enables real-time shopper analytics and inventory monitoring to reduce stock-outs and optimize staffing.</a:t>
            </a:r>
            <a:endParaRPr lang="en-US" sz="3020" b="0" u="none" strike="noStrike" dirty="0">
              <a:solidFill>
                <a:srgbClr val="000000"/>
              </a:solidFill>
              <a:uFillTx/>
              <a:latin typeface="Arial"/>
            </a:endParaRPr>
          </a:p>
        </p:txBody>
      </p:sp>
      <p:grpSp>
        <p:nvGrpSpPr>
          <p:cNvPr id="36" name="Group 24"/>
          <p:cNvGrpSpPr/>
          <p:nvPr/>
        </p:nvGrpSpPr>
        <p:grpSpPr>
          <a:xfrm>
            <a:off x="15239880" y="75240"/>
            <a:ext cx="2862000" cy="1311840"/>
            <a:chOff x="15239880" y="75240"/>
            <a:chExt cx="2862000" cy="1311840"/>
          </a:xfrm>
        </p:grpSpPr>
        <p:sp>
          <p:nvSpPr>
            <p:cNvPr id="37" name="Freeform 25"/>
            <p:cNvSpPr/>
            <p:nvPr/>
          </p:nvSpPr>
          <p:spPr>
            <a:xfrm>
              <a:off x="15239880" y="75240"/>
              <a:ext cx="2862000" cy="1311840"/>
            </a:xfrm>
            <a:custGeom>
              <a:avLst/>
              <a:gdLst>
                <a:gd name="textAreaLeft" fmla="*/ 0 w 2862000"/>
                <a:gd name="textAreaRight" fmla="*/ 2862360 w 2862000"/>
                <a:gd name="textAreaTop" fmla="*/ 0 h 1311840"/>
                <a:gd name="textAreaBottom" fmla="*/ 1312200 h 1311840"/>
              </a:gdLst>
              <a:ahLst/>
              <a:cxnLst/>
              <a:rect l="textAreaLeft" t="textAreaTop" r="textAreaRight" b="textAreaBottom"/>
              <a:pathLst>
                <a:path w="4571506" h="2095752">
                  <a:moveTo>
                    <a:pt x="0" y="0"/>
                  </a:moveTo>
                  <a:lnTo>
                    <a:pt x="4571506" y="0"/>
                  </a:lnTo>
                  <a:lnTo>
                    <a:pt x="4571506" y="2095752"/>
                  </a:lnTo>
                  <a:lnTo>
                    <a:pt x="0" y="2095752"/>
                  </a:lnTo>
                  <a:lnTo>
                    <a:pt x="0" y="0"/>
                  </a:lnTo>
                  <a:close/>
                </a:path>
              </a:pathLst>
            </a:custGeom>
            <a:blipFill rotWithShape="0">
              <a:blip r:embed="rId8"/>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grpSp>
      <p:sp>
        <p:nvSpPr>
          <p:cNvPr id="2" name="Freeform 17">
            <a:extLst>
              <a:ext uri="{FF2B5EF4-FFF2-40B4-BE49-F238E27FC236}">
                <a16:creationId xmlns:a16="http://schemas.microsoft.com/office/drawing/2014/main" id="{961DF37F-4575-2202-43AF-731367F624E6}"/>
              </a:ext>
            </a:extLst>
          </p:cNvPr>
          <p:cNvSpPr/>
          <p:nvPr/>
        </p:nvSpPr>
        <p:spPr>
          <a:xfrm>
            <a:off x="1731735" y="2964590"/>
            <a:ext cx="15685560" cy="1804320"/>
          </a:xfrm>
          <a:custGeom>
            <a:avLst/>
            <a:gdLst>
              <a:gd name="textAreaLeft" fmla="*/ 0 w 15685560"/>
              <a:gd name="textAreaRight" fmla="*/ 15685920 w 15685560"/>
              <a:gd name="textAreaTop" fmla="*/ 0 h 1804320"/>
              <a:gd name="textAreaBottom" fmla="*/ 1804680 h 1804320"/>
            </a:gdLst>
            <a:ahLst/>
            <a:cxnLst/>
            <a:rect l="textAreaLeft" t="textAreaTop" r="textAreaRight" b="textAreaBottom"/>
            <a:pathLst>
              <a:path w="15685947" h="2029868">
                <a:moveTo>
                  <a:pt x="0" y="0"/>
                </a:moveTo>
                <a:lnTo>
                  <a:pt x="15685948" y="0"/>
                </a:lnTo>
                <a:lnTo>
                  <a:pt x="15685948" y="2029869"/>
                </a:lnTo>
                <a:lnTo>
                  <a:pt x="0" y="2029869"/>
                </a:lnTo>
                <a:lnTo>
                  <a:pt x="0" y="0"/>
                </a:lnTo>
                <a:close/>
              </a:path>
            </a:pathLst>
          </a:custGeom>
          <a:blipFill rotWithShape="0">
            <a:blip r:embed="rId9">
              <a:alphaModFix amt="25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rgbClr val="000000"/>
              </a:solidFill>
              <a:uFillTx/>
              <a:latin typeface="Arial"/>
            </a:endParaRPr>
          </a:p>
        </p:txBody>
      </p:sp>
      <p:sp>
        <p:nvSpPr>
          <p:cNvPr id="4" name="Freeform 17">
            <a:extLst>
              <a:ext uri="{FF2B5EF4-FFF2-40B4-BE49-F238E27FC236}">
                <a16:creationId xmlns:a16="http://schemas.microsoft.com/office/drawing/2014/main" id="{62DCA516-D5D4-0E5F-E81B-60596C665962}"/>
              </a:ext>
            </a:extLst>
          </p:cNvPr>
          <p:cNvSpPr/>
          <p:nvPr/>
        </p:nvSpPr>
        <p:spPr>
          <a:xfrm>
            <a:off x="1731735" y="2964590"/>
            <a:ext cx="15685560" cy="1804320"/>
          </a:xfrm>
          <a:custGeom>
            <a:avLst/>
            <a:gdLst>
              <a:gd name="textAreaLeft" fmla="*/ 0 w 15685560"/>
              <a:gd name="textAreaRight" fmla="*/ 15685920 w 15685560"/>
              <a:gd name="textAreaTop" fmla="*/ 0 h 1804320"/>
              <a:gd name="textAreaBottom" fmla="*/ 1804680 h 1804320"/>
            </a:gdLst>
            <a:ahLst/>
            <a:cxnLst/>
            <a:rect l="textAreaLeft" t="textAreaTop" r="textAreaRight" b="textAreaBottom"/>
            <a:pathLst>
              <a:path w="15685947" h="2029868">
                <a:moveTo>
                  <a:pt x="0" y="0"/>
                </a:moveTo>
                <a:lnTo>
                  <a:pt x="15685948" y="0"/>
                </a:lnTo>
                <a:lnTo>
                  <a:pt x="15685948" y="2029869"/>
                </a:lnTo>
                <a:lnTo>
                  <a:pt x="0" y="2029869"/>
                </a:lnTo>
                <a:lnTo>
                  <a:pt x="0" y="0"/>
                </a:lnTo>
                <a:close/>
              </a:path>
            </a:pathLst>
          </a:custGeom>
          <a:blipFill rotWithShape="0">
            <a:blip r:embed="rId9">
              <a:alphaModFix amt="25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i="0" u="sng" dirty="0">
                <a:solidFill>
                  <a:srgbClr val="1F497D"/>
                </a:solidFill>
                <a:latin typeface="Arial"/>
                <a:ea typeface="Arial"/>
                <a:cs typeface="Arial"/>
              </a:rPr>
              <a:t>Proposed Solution :</a:t>
            </a:r>
            <a:r>
              <a:rPr lang="en-US" sz="2800" b="1" u="sng" dirty="0">
                <a:solidFill>
                  <a:srgbClr val="1F497D"/>
                </a:solidFill>
                <a:latin typeface="Arial"/>
                <a:ea typeface="Arial"/>
                <a:cs typeface="Arial"/>
              </a:rPr>
              <a:t>  </a:t>
            </a:r>
            <a:r>
              <a:rPr lang="en-US" sz="2800" b="0" i="0" u="none" strike="noStrike" dirty="0">
                <a:solidFill>
                  <a:srgbClr val="000000"/>
                </a:solidFill>
                <a:latin typeface="Arial"/>
                <a:ea typeface="Arial"/>
                <a:cs typeface="Arial"/>
              </a:rPr>
              <a:t>A smart Hybrid edge-computing system using Raspberry pi and STM32, where Raspberry Pi analyses queues and STM32 keeps track of shelf inventory</a:t>
            </a:r>
            <a:r>
              <a:rPr lang="en-US" sz="2800" dirty="0">
                <a:solidFill>
                  <a:srgbClr val="000000"/>
                </a:solidFill>
                <a:latin typeface="Arial"/>
                <a:ea typeface="Arial"/>
                <a:cs typeface="Arial"/>
              </a:rPr>
              <a:t> with AI Intelligence and ML frameworks.</a:t>
            </a:r>
            <a:endParaRPr lang="en-US" sz="1800" b="0" u="none" strike="noStrike" dirty="0">
              <a:solidFill>
                <a:srgbClr val="000000"/>
              </a:solidFill>
              <a:uFillTx/>
              <a:latin typeface="Arial"/>
            </a:endParaRPr>
          </a:p>
        </p:txBody>
      </p:sp>
      <p:sp>
        <p:nvSpPr>
          <p:cNvPr id="5" name="Freeform 21">
            <a:extLst>
              <a:ext uri="{FF2B5EF4-FFF2-40B4-BE49-F238E27FC236}">
                <a16:creationId xmlns:a16="http://schemas.microsoft.com/office/drawing/2014/main" id="{13B50146-0E0A-D4B2-2F78-9293C1D0BC25}"/>
              </a:ext>
            </a:extLst>
          </p:cNvPr>
          <p:cNvSpPr/>
          <p:nvPr/>
        </p:nvSpPr>
        <p:spPr>
          <a:xfrm>
            <a:off x="1099080" y="2461320"/>
            <a:ext cx="630000" cy="1008360"/>
          </a:xfrm>
          <a:custGeom>
            <a:avLst/>
            <a:gdLst>
              <a:gd name="textAreaLeft" fmla="*/ 0 w 630000"/>
              <a:gd name="textAreaRight" fmla="*/ 630360 w 630000"/>
              <a:gd name="textAreaTop" fmla="*/ 0 h 1008360"/>
              <a:gd name="textAreaBottom" fmla="*/ 1008720 h 1008360"/>
            </a:gdLst>
            <a:ahLst/>
            <a:cxnLst/>
            <a:rect l="textAreaLeft" t="textAreaTop" r="textAreaRight" b="textAreaBottom"/>
            <a:pathLst>
              <a:path w="630456" h="1008730">
                <a:moveTo>
                  <a:pt x="0" y="0"/>
                </a:moveTo>
                <a:lnTo>
                  <a:pt x="630456" y="0"/>
                </a:lnTo>
                <a:lnTo>
                  <a:pt x="630456" y="1008730"/>
                </a:lnTo>
                <a:lnTo>
                  <a:pt x="0" y="1008730"/>
                </a:lnTo>
                <a:lnTo>
                  <a:pt x="0" y="0"/>
                </a:lnTo>
                <a:close/>
              </a:path>
            </a:pathLst>
          </a:custGeom>
          <a:blipFill rotWithShape="0">
            <a:blip r:embed="rId10"/>
            <a:srcRect/>
            <a:stretch>
              <a:fillRect l="-28" t="-17" r="-28" b="-17"/>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rgbClr val="000000"/>
              </a:solidFill>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2"/>
          <p:cNvGrpSpPr/>
          <p:nvPr/>
        </p:nvGrpSpPr>
        <p:grpSpPr>
          <a:xfrm>
            <a:off x="0" y="9532080"/>
            <a:ext cx="18287640" cy="754560"/>
            <a:chOff x="0" y="9532080"/>
            <a:chExt cx="18287640" cy="754560"/>
          </a:xfrm>
        </p:grpSpPr>
        <p:sp>
          <p:nvSpPr>
            <p:cNvPr id="39" name="Freeform 3"/>
            <p:cNvSpPr/>
            <p:nvPr/>
          </p:nvSpPr>
          <p:spPr>
            <a:xfrm>
              <a:off x="0" y="9532080"/>
              <a:ext cx="18287640" cy="754560"/>
            </a:xfrm>
            <a:custGeom>
              <a:avLst/>
              <a:gdLst>
                <a:gd name="textAreaLeft" fmla="*/ 0 w 18287640"/>
                <a:gd name="textAreaRight" fmla="*/ 18288000 w 18287640"/>
                <a:gd name="textAreaTop" fmla="*/ 0 h 754560"/>
                <a:gd name="textAreaBottom" fmla="*/ 754920 h 754560"/>
              </a:gdLst>
              <a:ahLst/>
              <a:cxnLst/>
              <a:rect l="textAreaLeft" t="textAreaTop" r="textAreaRight" b="textAreaBottom"/>
              <a:pathLst>
                <a:path w="24384000" h="1006475">
                  <a:moveTo>
                    <a:pt x="0" y="0"/>
                  </a:moveTo>
                  <a:lnTo>
                    <a:pt x="24384000" y="0"/>
                  </a:lnTo>
                  <a:lnTo>
                    <a:pt x="24384000" y="1006475"/>
                  </a:lnTo>
                  <a:lnTo>
                    <a:pt x="0" y="1006475"/>
                  </a:lnTo>
                  <a:close/>
                </a:path>
              </a:pathLst>
            </a:custGeom>
            <a:solidFill>
              <a:srgbClr val="0070C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uFillTx/>
                <a:latin typeface="Arial"/>
              </a:endParaRPr>
            </a:p>
          </p:txBody>
        </p:sp>
      </p:grpSp>
      <p:grpSp>
        <p:nvGrpSpPr>
          <p:cNvPr id="40" name="Group 4"/>
          <p:cNvGrpSpPr/>
          <p:nvPr/>
        </p:nvGrpSpPr>
        <p:grpSpPr>
          <a:xfrm>
            <a:off x="3707280" y="-127440"/>
            <a:ext cx="11183760" cy="1735560"/>
            <a:chOff x="3707280" y="-127440"/>
            <a:chExt cx="11183760" cy="1735560"/>
          </a:xfrm>
        </p:grpSpPr>
        <p:sp>
          <p:nvSpPr>
            <p:cNvPr id="41" name="Freeform 5"/>
            <p:cNvSpPr/>
            <p:nvPr/>
          </p:nvSpPr>
          <p:spPr>
            <a:xfrm>
              <a:off x="3707280" y="-106200"/>
              <a:ext cx="11183760" cy="1714320"/>
            </a:xfrm>
            <a:custGeom>
              <a:avLst/>
              <a:gdLst>
                <a:gd name="textAreaLeft" fmla="*/ 0 w 11183760"/>
                <a:gd name="textAreaRight" fmla="*/ 11184120 w 11183760"/>
                <a:gd name="textAreaTop" fmla="*/ 0 h 1714320"/>
                <a:gd name="textAreaBottom" fmla="*/ 1714680 h 1714320"/>
              </a:gdLst>
              <a:ahLst/>
              <a:cxnLst/>
              <a:rect l="textAreaLeft" t="textAreaTop" r="textAreaRight" b="textAreaBottom"/>
              <a:pathLst>
                <a:path w="14912208" h="2286000">
                  <a:moveTo>
                    <a:pt x="0" y="0"/>
                  </a:moveTo>
                  <a:lnTo>
                    <a:pt x="14912208" y="0"/>
                  </a:lnTo>
                  <a:lnTo>
                    <a:pt x="14912208" y="2286000"/>
                  </a:lnTo>
                  <a:lnTo>
                    <a:pt x="0" y="2286000"/>
                  </a:lnTo>
                  <a:close/>
                </a:path>
              </a:pathLst>
            </a:custGeom>
            <a:blipFill rotWithShape="0">
              <a:blip r:embed="rId2">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42" name="TextBox 6"/>
            <p:cNvSpPr/>
            <p:nvPr/>
          </p:nvSpPr>
          <p:spPr>
            <a:xfrm>
              <a:off x="3707280" y="-127440"/>
              <a:ext cx="11183760" cy="173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6480"/>
                </a:lnSpc>
              </a:pPr>
              <a:r>
                <a:rPr lang="en-US" sz="5400" b="1" u="none" strike="noStrike">
                  <a:solidFill>
                    <a:srgbClr val="000000"/>
                  </a:solidFill>
                  <a:uFillTx/>
                  <a:latin typeface="Times New Roman Bold"/>
                  <a:ea typeface="Times New Roman Bold"/>
                </a:rPr>
                <a:t>TECHNICAL APPROACH</a:t>
              </a:r>
              <a:endParaRPr lang="en-US" sz="5400" b="0" u="none" strike="noStrike">
                <a:solidFill>
                  <a:srgbClr val="000000"/>
                </a:solidFill>
                <a:uFillTx/>
                <a:latin typeface="Arial"/>
              </a:endParaRPr>
            </a:p>
          </p:txBody>
        </p:sp>
      </p:grpSp>
      <p:grpSp>
        <p:nvGrpSpPr>
          <p:cNvPr id="43" name="Group 7"/>
          <p:cNvGrpSpPr/>
          <p:nvPr/>
        </p:nvGrpSpPr>
        <p:grpSpPr>
          <a:xfrm>
            <a:off x="13106520" y="9520200"/>
            <a:ext cx="4266720" cy="561600"/>
            <a:chOff x="13106520" y="9520200"/>
            <a:chExt cx="4266720" cy="561600"/>
          </a:xfrm>
        </p:grpSpPr>
        <p:sp>
          <p:nvSpPr>
            <p:cNvPr id="44" name="Freeform 8"/>
            <p:cNvSpPr/>
            <p:nvPr/>
          </p:nvSpPr>
          <p:spPr>
            <a:xfrm>
              <a:off x="13106520" y="9534600"/>
              <a:ext cx="4266720" cy="547200"/>
            </a:xfrm>
            <a:custGeom>
              <a:avLst/>
              <a:gdLst>
                <a:gd name="textAreaLeft" fmla="*/ 0 w 4266720"/>
                <a:gd name="textAreaRight" fmla="*/ 4267080 w 4266720"/>
                <a:gd name="textAreaTop" fmla="*/ 0 h 547200"/>
                <a:gd name="textAreaBottom" fmla="*/ 547560 h 547200"/>
              </a:gdLst>
              <a:ahLst/>
              <a:cxnLst/>
              <a:rect l="textAreaLeft" t="textAreaTop" r="textAreaRight" b="textAreaBottom"/>
              <a:pathLst>
                <a:path w="5689600" h="730250">
                  <a:moveTo>
                    <a:pt x="0" y="0"/>
                  </a:moveTo>
                  <a:lnTo>
                    <a:pt x="5689600" y="0"/>
                  </a:lnTo>
                  <a:lnTo>
                    <a:pt x="5689600" y="730250"/>
                  </a:lnTo>
                  <a:lnTo>
                    <a:pt x="0" y="730250"/>
                  </a:lnTo>
                  <a:close/>
                </a:path>
              </a:pathLst>
            </a:custGeom>
            <a:blipFill rotWithShape="0">
              <a:blip r:embed="rId3">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45" name="TextBox 9"/>
            <p:cNvSpPr/>
            <p:nvPr/>
          </p:nvSpPr>
          <p:spPr>
            <a:xfrm>
              <a:off x="13106520" y="9520200"/>
              <a:ext cx="4266720" cy="56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ts val="2160"/>
                </a:lnSpc>
              </a:pPr>
              <a:r>
                <a:rPr lang="en-US" sz="1800" b="1" u="none" strike="noStrike">
                  <a:solidFill>
                    <a:srgbClr val="FFFFFF"/>
                  </a:solidFill>
                  <a:uFillTx/>
                  <a:latin typeface="Arimo Bold"/>
                  <a:ea typeface="Arimo Bold"/>
                </a:rPr>
                <a:t>3</a:t>
              </a:r>
              <a:endParaRPr lang="en-US" sz="1800" b="0" u="none" strike="noStrike">
                <a:solidFill>
                  <a:srgbClr val="000000"/>
                </a:solidFill>
                <a:uFillTx/>
                <a:latin typeface="Arial"/>
              </a:endParaRPr>
            </a:p>
          </p:txBody>
        </p:sp>
      </p:grpSp>
      <p:grpSp>
        <p:nvGrpSpPr>
          <p:cNvPr id="46" name="Group 10"/>
          <p:cNvGrpSpPr/>
          <p:nvPr/>
        </p:nvGrpSpPr>
        <p:grpSpPr>
          <a:xfrm>
            <a:off x="475560" y="316440"/>
            <a:ext cx="1915560" cy="1291680"/>
            <a:chOff x="475560" y="316440"/>
            <a:chExt cx="1915560" cy="1291680"/>
          </a:xfrm>
        </p:grpSpPr>
        <p:sp>
          <p:nvSpPr>
            <p:cNvPr id="47" name="Freeform 11"/>
            <p:cNvSpPr/>
            <p:nvPr/>
          </p:nvSpPr>
          <p:spPr>
            <a:xfrm>
              <a:off x="475560" y="359280"/>
              <a:ext cx="1915560" cy="1248840"/>
            </a:xfrm>
            <a:custGeom>
              <a:avLst/>
              <a:gdLst>
                <a:gd name="textAreaLeft" fmla="*/ 0 w 1915560"/>
                <a:gd name="textAreaRight" fmla="*/ 1915920 w 1915560"/>
                <a:gd name="textAreaTop" fmla="*/ 0 h 1248840"/>
                <a:gd name="textAreaBottom" fmla="*/ 1249200 h 1248840"/>
              </a:gdLst>
              <a:ahLst/>
              <a:cxnLst/>
              <a:rect l="textAreaLeft" t="textAreaTop" r="textAreaRight" b="textAreaBottom"/>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48" name="TextBox 12"/>
            <p:cNvSpPr/>
            <p:nvPr/>
          </p:nvSpPr>
          <p:spPr>
            <a:xfrm>
              <a:off x="475560" y="316440"/>
              <a:ext cx="1915560" cy="12916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240"/>
                </a:lnSpc>
              </a:pPr>
              <a:r>
                <a:rPr lang="en-US" sz="2700" dirty="0">
                  <a:solidFill>
                    <a:srgbClr val="000000"/>
                  </a:solidFill>
                  <a:latin typeface="Calibri (MS)"/>
                </a:rPr>
                <a:t>Tech Gladiators</a:t>
              </a:r>
              <a:endParaRPr lang="en-US" sz="2700" b="0" u="none" strike="noStrike" dirty="0">
                <a:solidFill>
                  <a:srgbClr val="000000"/>
                </a:solidFill>
                <a:uFillTx/>
                <a:latin typeface="Arial"/>
              </a:endParaRPr>
            </a:p>
          </p:txBody>
        </p:sp>
      </p:grpSp>
      <p:sp>
        <p:nvSpPr>
          <p:cNvPr id="54" name="TextBox 18"/>
          <p:cNvSpPr/>
          <p:nvPr/>
        </p:nvSpPr>
        <p:spPr>
          <a:xfrm>
            <a:off x="174960" y="2004840"/>
            <a:ext cx="17715360" cy="1384995"/>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marL="562320" lvl="1" indent="-281160" algn="just">
              <a:buFont typeface="Arial"/>
              <a:buChar char="•"/>
            </a:pPr>
            <a:r>
              <a:rPr lang="en-IN" sz="3000" dirty="0">
                <a:latin typeface="Calibri (MS)"/>
              </a:rPr>
              <a:t>We built a hyper-optimized, privacy-first CCTV pipeline that processes retail analytics instantly at the source. Using lightweight AI and smart computer vision, it tracks store footfall, queues, and stock levels offline on cheap hardware, blurring every customer the millisecond they are detected.</a:t>
            </a:r>
            <a:endParaRPr lang="en-US" sz="3000" b="0" u="none" strike="noStrike" dirty="0">
              <a:solidFill>
                <a:srgbClr val="000000"/>
              </a:solidFill>
              <a:uFillTx/>
              <a:latin typeface="Calibri (MS)"/>
            </a:endParaRPr>
          </a:p>
        </p:txBody>
      </p:sp>
      <p:sp>
        <p:nvSpPr>
          <p:cNvPr id="55" name="TextBox 19"/>
          <p:cNvSpPr/>
          <p:nvPr/>
        </p:nvSpPr>
        <p:spPr>
          <a:xfrm>
            <a:off x="-104012" y="3394978"/>
            <a:ext cx="4961880" cy="872996"/>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914400">
              <a:lnSpc>
                <a:spcPts val="7279"/>
              </a:lnSpc>
            </a:pPr>
            <a:r>
              <a:rPr lang="en-US" sz="5200" b="0" u="none" strike="noStrike" dirty="0">
                <a:solidFill>
                  <a:srgbClr val="0D82CA"/>
                </a:solidFill>
                <a:uFillTx/>
                <a:latin typeface="Canva Sans"/>
                <a:ea typeface="Canva Sans"/>
              </a:rPr>
              <a:t>Process flow</a:t>
            </a:r>
            <a:endParaRPr lang="en-US" sz="5200" b="0" u="none" strike="noStrike" dirty="0">
              <a:solidFill>
                <a:srgbClr val="000000"/>
              </a:solidFill>
              <a:uFillTx/>
              <a:latin typeface="Arial"/>
            </a:endParaRPr>
          </a:p>
        </p:txBody>
      </p:sp>
      <p:grpSp>
        <p:nvGrpSpPr>
          <p:cNvPr id="60" name="Group 24"/>
          <p:cNvGrpSpPr/>
          <p:nvPr/>
        </p:nvGrpSpPr>
        <p:grpSpPr>
          <a:xfrm>
            <a:off x="15239880" y="95040"/>
            <a:ext cx="2862000" cy="1311840"/>
            <a:chOff x="15239880" y="95040"/>
            <a:chExt cx="2862000" cy="1311840"/>
          </a:xfrm>
        </p:grpSpPr>
        <p:sp>
          <p:nvSpPr>
            <p:cNvPr id="61" name="Freeform 25"/>
            <p:cNvSpPr/>
            <p:nvPr/>
          </p:nvSpPr>
          <p:spPr>
            <a:xfrm>
              <a:off x="15239880" y="95040"/>
              <a:ext cx="2862000" cy="1311840"/>
            </a:xfrm>
            <a:custGeom>
              <a:avLst/>
              <a:gdLst>
                <a:gd name="textAreaLeft" fmla="*/ 0 w 2862000"/>
                <a:gd name="textAreaRight" fmla="*/ 2862360 w 2862000"/>
                <a:gd name="textAreaTop" fmla="*/ 0 h 1311840"/>
                <a:gd name="textAreaBottom" fmla="*/ 1312200 h 1311840"/>
              </a:gdLst>
              <a:ahLst/>
              <a:cxnLst/>
              <a:rect l="textAreaLeft" t="textAreaTop" r="textAreaRight" b="textAreaBottom"/>
              <a:pathLst>
                <a:path w="4571506" h="2095752">
                  <a:moveTo>
                    <a:pt x="0" y="0"/>
                  </a:moveTo>
                  <a:lnTo>
                    <a:pt x="4571506" y="0"/>
                  </a:lnTo>
                  <a:lnTo>
                    <a:pt x="4571506" y="2095752"/>
                  </a:lnTo>
                  <a:lnTo>
                    <a:pt x="0" y="2095752"/>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grpSp>
      <p:pic>
        <p:nvPicPr>
          <p:cNvPr id="4" name="Picture 3">
            <a:extLst>
              <a:ext uri="{FF2B5EF4-FFF2-40B4-BE49-F238E27FC236}">
                <a16:creationId xmlns:a16="http://schemas.microsoft.com/office/drawing/2014/main" id="{BE87175D-44A9-C812-4E4D-ECE7A3A51043}"/>
              </a:ext>
            </a:extLst>
          </p:cNvPr>
          <p:cNvPicPr>
            <a:picLocks noChangeAspect="1"/>
          </p:cNvPicPr>
          <p:nvPr/>
        </p:nvPicPr>
        <p:blipFill>
          <a:blip r:embed="rId5"/>
          <a:stretch>
            <a:fillRect/>
          </a:stretch>
        </p:blipFill>
        <p:spPr>
          <a:xfrm>
            <a:off x="480391" y="4391619"/>
            <a:ext cx="12970566" cy="48665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2"/>
          <p:cNvGrpSpPr/>
          <p:nvPr/>
        </p:nvGrpSpPr>
        <p:grpSpPr>
          <a:xfrm>
            <a:off x="3296520" y="-95400"/>
            <a:ext cx="10644480" cy="1735560"/>
            <a:chOff x="3296520" y="-95400"/>
            <a:chExt cx="10644480" cy="1735560"/>
          </a:xfrm>
        </p:grpSpPr>
        <p:sp>
          <p:nvSpPr>
            <p:cNvPr id="65" name="Freeform 3"/>
            <p:cNvSpPr/>
            <p:nvPr/>
          </p:nvSpPr>
          <p:spPr>
            <a:xfrm>
              <a:off x="3296520" y="-74160"/>
              <a:ext cx="10644480" cy="1714320"/>
            </a:xfrm>
            <a:custGeom>
              <a:avLst/>
              <a:gdLst>
                <a:gd name="textAreaLeft" fmla="*/ 0 w 10644480"/>
                <a:gd name="textAreaRight" fmla="*/ 10644840 w 10644480"/>
                <a:gd name="textAreaTop" fmla="*/ 0 h 1714320"/>
                <a:gd name="textAreaBottom" fmla="*/ 1714680 h 1714320"/>
              </a:gdLst>
              <a:ahLst/>
              <a:cxnLst/>
              <a:rect l="textAreaLeft" t="textAreaTop" r="textAreaRight" b="textAreaBottom"/>
              <a:pathLst>
                <a:path w="14193272" h="2286000">
                  <a:moveTo>
                    <a:pt x="0" y="0"/>
                  </a:moveTo>
                  <a:lnTo>
                    <a:pt x="14193272" y="0"/>
                  </a:lnTo>
                  <a:lnTo>
                    <a:pt x="14193272" y="2286000"/>
                  </a:lnTo>
                  <a:lnTo>
                    <a:pt x="0" y="2286000"/>
                  </a:lnTo>
                  <a:close/>
                </a:path>
              </a:pathLst>
            </a:custGeom>
            <a:blipFill rotWithShape="0">
              <a:blip r:embed="rId2">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66" name="TextBox 4"/>
            <p:cNvSpPr/>
            <p:nvPr/>
          </p:nvSpPr>
          <p:spPr>
            <a:xfrm>
              <a:off x="3296520" y="-95400"/>
              <a:ext cx="10644480" cy="173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6480"/>
                </a:lnSpc>
              </a:pPr>
              <a:r>
                <a:rPr lang="en-US" sz="5400" b="1" u="none" strike="noStrike">
                  <a:solidFill>
                    <a:srgbClr val="000000"/>
                  </a:solidFill>
                  <a:uFillTx/>
                  <a:latin typeface="Times New Roman Bold"/>
                  <a:ea typeface="Times New Roman Bold"/>
                </a:rPr>
                <a:t>FEASIBILITY AND VIABILITY</a:t>
              </a:r>
              <a:endParaRPr lang="en-US" sz="5400" b="0" u="none" strike="noStrike">
                <a:solidFill>
                  <a:srgbClr val="000000"/>
                </a:solidFill>
                <a:uFillTx/>
                <a:latin typeface="Arial"/>
              </a:endParaRPr>
            </a:p>
          </p:txBody>
        </p:sp>
      </p:grpSp>
      <p:grpSp>
        <p:nvGrpSpPr>
          <p:cNvPr id="67" name="Group 5"/>
          <p:cNvGrpSpPr/>
          <p:nvPr/>
        </p:nvGrpSpPr>
        <p:grpSpPr>
          <a:xfrm>
            <a:off x="13482000" y="9571320"/>
            <a:ext cx="4266720" cy="561600"/>
            <a:chOff x="13482000" y="9571320"/>
            <a:chExt cx="4266720" cy="561600"/>
          </a:xfrm>
        </p:grpSpPr>
        <p:sp>
          <p:nvSpPr>
            <p:cNvPr id="68" name="Freeform 6"/>
            <p:cNvSpPr/>
            <p:nvPr/>
          </p:nvSpPr>
          <p:spPr>
            <a:xfrm>
              <a:off x="13482000" y="9585360"/>
              <a:ext cx="4266720" cy="547200"/>
            </a:xfrm>
            <a:custGeom>
              <a:avLst/>
              <a:gdLst>
                <a:gd name="textAreaLeft" fmla="*/ 0 w 4266720"/>
                <a:gd name="textAreaRight" fmla="*/ 4267080 w 4266720"/>
                <a:gd name="textAreaTop" fmla="*/ 0 h 547200"/>
                <a:gd name="textAreaBottom" fmla="*/ 547560 h 547200"/>
              </a:gdLst>
              <a:ahLst/>
              <a:cxnLst/>
              <a:rect l="textAreaLeft" t="textAreaTop" r="textAreaRight" b="textAreaBottom"/>
              <a:pathLst>
                <a:path w="5689600" h="730250">
                  <a:moveTo>
                    <a:pt x="0" y="0"/>
                  </a:moveTo>
                  <a:lnTo>
                    <a:pt x="5689600" y="0"/>
                  </a:lnTo>
                  <a:lnTo>
                    <a:pt x="5689600" y="730250"/>
                  </a:lnTo>
                  <a:lnTo>
                    <a:pt x="0" y="730250"/>
                  </a:lnTo>
                  <a:close/>
                </a:path>
              </a:pathLst>
            </a:custGeom>
            <a:blipFill rotWithShape="0">
              <a:blip r:embed="rId3">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69" name="TextBox 7"/>
            <p:cNvSpPr/>
            <p:nvPr/>
          </p:nvSpPr>
          <p:spPr>
            <a:xfrm>
              <a:off x="13482000" y="9571320"/>
              <a:ext cx="4266720" cy="56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ts val="2160"/>
                </a:lnSpc>
              </a:pPr>
              <a:r>
                <a:rPr lang="en-US" sz="1800" b="1" u="none" strike="noStrike">
                  <a:solidFill>
                    <a:srgbClr val="FFFFFF"/>
                  </a:solidFill>
                  <a:uFillTx/>
                  <a:latin typeface="Arimo Bold"/>
                  <a:ea typeface="Arimo Bold"/>
                </a:rPr>
                <a:t>4</a:t>
              </a:r>
              <a:endParaRPr lang="en-US" sz="1800" b="0" u="none" strike="noStrike">
                <a:solidFill>
                  <a:srgbClr val="000000"/>
                </a:solidFill>
                <a:uFillTx/>
                <a:latin typeface="Arial"/>
              </a:endParaRPr>
            </a:p>
          </p:txBody>
        </p:sp>
      </p:grpSp>
      <p:grpSp>
        <p:nvGrpSpPr>
          <p:cNvPr id="70" name="Group 8"/>
          <p:cNvGrpSpPr/>
          <p:nvPr/>
        </p:nvGrpSpPr>
        <p:grpSpPr>
          <a:xfrm>
            <a:off x="70920" y="-40680"/>
            <a:ext cx="1915560" cy="1291680"/>
            <a:chOff x="70920" y="-40680"/>
            <a:chExt cx="1915560" cy="1291680"/>
          </a:xfrm>
        </p:grpSpPr>
        <p:sp>
          <p:nvSpPr>
            <p:cNvPr id="71" name="Freeform 9"/>
            <p:cNvSpPr/>
            <p:nvPr/>
          </p:nvSpPr>
          <p:spPr>
            <a:xfrm>
              <a:off x="70920" y="2160"/>
              <a:ext cx="1915560" cy="1248840"/>
            </a:xfrm>
            <a:custGeom>
              <a:avLst/>
              <a:gdLst>
                <a:gd name="textAreaLeft" fmla="*/ 0 w 1915560"/>
                <a:gd name="textAreaRight" fmla="*/ 1915920 w 1915560"/>
                <a:gd name="textAreaTop" fmla="*/ 0 h 1248840"/>
                <a:gd name="textAreaBottom" fmla="*/ 1249200 h 1248840"/>
              </a:gdLst>
              <a:ahLst/>
              <a:cxnLst/>
              <a:rect l="textAreaLeft" t="textAreaTop" r="textAreaRight" b="textAreaBottom"/>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72" name="TextBox 10"/>
            <p:cNvSpPr/>
            <p:nvPr/>
          </p:nvSpPr>
          <p:spPr>
            <a:xfrm>
              <a:off x="70920" y="-40680"/>
              <a:ext cx="1915560" cy="12916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240"/>
                </a:lnSpc>
              </a:pPr>
              <a:r>
                <a:rPr lang="en-US" sz="2700" dirty="0">
                  <a:solidFill>
                    <a:srgbClr val="000000"/>
                  </a:solidFill>
                  <a:latin typeface="Calibri (MS)"/>
                </a:rPr>
                <a:t>Tech Gladiators</a:t>
              </a:r>
              <a:endParaRPr lang="en-US" sz="2700" b="0" u="none" strike="noStrike" dirty="0">
                <a:solidFill>
                  <a:srgbClr val="000000"/>
                </a:solidFill>
                <a:uFillTx/>
                <a:latin typeface="Arial"/>
              </a:endParaRPr>
            </a:p>
          </p:txBody>
        </p:sp>
      </p:grpSp>
      <p:sp>
        <p:nvSpPr>
          <p:cNvPr id="73" name="Freeform 11"/>
          <p:cNvSpPr/>
          <p:nvPr/>
        </p:nvSpPr>
        <p:spPr>
          <a:xfrm>
            <a:off x="8277840" y="6223680"/>
            <a:ext cx="1784880" cy="2270520"/>
          </a:xfrm>
          <a:custGeom>
            <a:avLst/>
            <a:gdLst>
              <a:gd name="textAreaLeft" fmla="*/ 0 w 1784880"/>
              <a:gd name="textAreaRight" fmla="*/ 1785240 w 1784880"/>
              <a:gd name="textAreaTop" fmla="*/ 0 h 2270520"/>
              <a:gd name="textAreaBottom" fmla="*/ 2270880 h 2270520"/>
            </a:gdLst>
            <a:ahLst/>
            <a:cxnLst/>
            <a:rect l="textAreaLeft" t="textAreaTop" r="textAreaRight" b="textAreaBottom"/>
            <a:pathLst>
              <a:path w="1785078" h="2270879">
                <a:moveTo>
                  <a:pt x="0" y="0"/>
                </a:moveTo>
                <a:lnTo>
                  <a:pt x="1785077" y="0"/>
                </a:lnTo>
                <a:lnTo>
                  <a:pt x="1785077" y="2270879"/>
                </a:lnTo>
                <a:lnTo>
                  <a:pt x="0" y="2270879"/>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76" name="Freeform 14"/>
          <p:cNvSpPr/>
          <p:nvPr/>
        </p:nvSpPr>
        <p:spPr>
          <a:xfrm>
            <a:off x="13108680" y="6736680"/>
            <a:ext cx="4640040" cy="2337480"/>
          </a:xfrm>
          <a:custGeom>
            <a:avLst/>
            <a:gdLst>
              <a:gd name="textAreaLeft" fmla="*/ 0 w 4640040"/>
              <a:gd name="textAreaRight" fmla="*/ 4640400 w 4640040"/>
              <a:gd name="textAreaTop" fmla="*/ 0 h 2337480"/>
              <a:gd name="textAreaBottom" fmla="*/ 2337840 h 2337480"/>
            </a:gdLst>
            <a:ahLst/>
            <a:cxnLst/>
            <a:rect l="textAreaLeft" t="textAreaTop" r="textAreaRight" b="textAreaBottom"/>
            <a:pathLst>
              <a:path w="4640415" h="2337894">
                <a:moveTo>
                  <a:pt x="0" y="0"/>
                </a:moveTo>
                <a:lnTo>
                  <a:pt x="4640415" y="0"/>
                </a:lnTo>
                <a:lnTo>
                  <a:pt x="4640415" y="2337893"/>
                </a:lnTo>
                <a:lnTo>
                  <a:pt x="0" y="2337893"/>
                </a:lnTo>
                <a:lnTo>
                  <a:pt x="0" y="0"/>
                </a:lnTo>
                <a:close/>
              </a:path>
            </a:pathLst>
          </a:cu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77" name="Freeform 15"/>
          <p:cNvSpPr/>
          <p:nvPr/>
        </p:nvSpPr>
        <p:spPr>
          <a:xfrm>
            <a:off x="5221800" y="3027600"/>
            <a:ext cx="5541120" cy="5541120"/>
          </a:xfrm>
          <a:custGeom>
            <a:avLst/>
            <a:gdLst>
              <a:gd name="textAreaLeft" fmla="*/ 0 w 5541120"/>
              <a:gd name="textAreaRight" fmla="*/ 5541480 w 5541120"/>
              <a:gd name="textAreaTop" fmla="*/ 0 h 5541120"/>
              <a:gd name="textAreaBottom" fmla="*/ 5541480 h 5541120"/>
            </a:gdLst>
            <a:ahLst/>
            <a:cxnLst/>
            <a:rect l="textAreaLeft" t="textAreaTop" r="textAreaRight" b="textAreaBottom"/>
            <a:pathLst>
              <a:path w="5541326" h="5541326">
                <a:moveTo>
                  <a:pt x="0" y="0"/>
                </a:moveTo>
                <a:lnTo>
                  <a:pt x="5541326" y="0"/>
                </a:lnTo>
                <a:lnTo>
                  <a:pt x="5541326" y="5541327"/>
                </a:lnTo>
                <a:lnTo>
                  <a:pt x="0" y="5541327"/>
                </a:lnTo>
                <a:lnTo>
                  <a:pt x="0" y="0"/>
                </a:lnTo>
                <a:close/>
              </a:path>
            </a:pathLst>
          </a:custGeom>
          <a:blipFill rotWithShape="0">
            <a:blip>
              <a:extLst>
                <a:ext uri="{96DAC541-7B7A-43D3-8B79-37D633B846F1}">
                  <asvg:svgBlip xmlns:asvg="http://schemas.microsoft.com/office/drawing/2016/SVG/main" r:embed="rId6"/>
                </a:ext>
              </a:extLst>
            </a:blip>
            <a:srcRect/>
            <a:stretch/>
          </a:blipFill>
          <a:ln w="38100" cap="sq">
            <a:solidFill>
              <a:srgbClr val="0070C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78" name="TextBox 16"/>
          <p:cNvSpPr/>
          <p:nvPr/>
        </p:nvSpPr>
        <p:spPr>
          <a:xfrm>
            <a:off x="416520" y="3551760"/>
            <a:ext cx="4145760" cy="197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60880" lvl="1" indent="-280440" defTabSz="914400">
              <a:lnSpc>
                <a:spcPts val="3118"/>
              </a:lnSpc>
              <a:buFont typeface="Arial"/>
              <a:buChar char="•"/>
            </a:pPr>
            <a:r>
              <a:rPr lang="en-US" sz="2600" b="1" u="none" strike="noStrike">
                <a:solidFill>
                  <a:srgbClr val="000000"/>
                </a:solidFill>
                <a:uFillTx/>
                <a:latin typeface="Arial Bold"/>
                <a:ea typeface="Arial Bold"/>
              </a:rPr>
              <a:t>Highly viable</a:t>
            </a:r>
            <a:r>
              <a:rPr lang="en-US" sz="2600" b="0" u="none" strike="noStrike">
                <a:solidFill>
                  <a:srgbClr val="000000"/>
                </a:solidFill>
                <a:uFillTx/>
                <a:latin typeface="Arial"/>
                <a:ea typeface="Arial"/>
              </a:rPr>
              <a:t> to prototype because it uses readily available hardware and existing open-source AI tools </a:t>
            </a:r>
            <a:endParaRPr lang="en-US" sz="2600" b="0" u="none" strike="noStrike">
              <a:solidFill>
                <a:srgbClr val="000000"/>
              </a:solidFill>
              <a:uFillTx/>
              <a:latin typeface="Arial"/>
            </a:endParaRPr>
          </a:p>
        </p:txBody>
      </p:sp>
      <p:sp>
        <p:nvSpPr>
          <p:cNvPr id="79" name="TextBox 17"/>
          <p:cNvSpPr/>
          <p:nvPr/>
        </p:nvSpPr>
        <p:spPr>
          <a:xfrm>
            <a:off x="416520" y="2307240"/>
            <a:ext cx="4145760" cy="956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7532"/>
              </a:lnSpc>
            </a:pPr>
            <a:r>
              <a:rPr lang="en-US" sz="5380" b="1" u="none" strike="noStrike">
                <a:solidFill>
                  <a:srgbClr val="000000"/>
                </a:solidFill>
                <a:uFillTx/>
                <a:latin typeface="Canva Sans Bold"/>
                <a:ea typeface="Canva Sans Bold"/>
              </a:rPr>
              <a:t>Feasibility:</a:t>
            </a:r>
            <a:endParaRPr lang="en-US" sz="5380" b="0" u="none" strike="noStrike">
              <a:solidFill>
                <a:srgbClr val="000000"/>
              </a:solidFill>
              <a:uFillTx/>
              <a:latin typeface="Arial"/>
            </a:endParaRPr>
          </a:p>
        </p:txBody>
      </p:sp>
      <p:sp>
        <p:nvSpPr>
          <p:cNvPr id="80" name="TextBox 18"/>
          <p:cNvSpPr/>
          <p:nvPr/>
        </p:nvSpPr>
        <p:spPr>
          <a:xfrm>
            <a:off x="416520" y="5714280"/>
            <a:ext cx="4788360" cy="190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38920" lvl="1" indent="-269280" defTabSz="914400">
              <a:lnSpc>
                <a:spcPts val="2993"/>
              </a:lnSpc>
              <a:buFont typeface="Arial"/>
              <a:buChar char="•"/>
            </a:pPr>
            <a:r>
              <a:rPr lang="en-US" sz="2490" b="1" u="none" strike="noStrike">
                <a:solidFill>
                  <a:srgbClr val="000000"/>
                </a:solidFill>
                <a:uFillTx/>
                <a:latin typeface="Arial Bold"/>
                <a:ea typeface="Arial Bold"/>
              </a:rPr>
              <a:t>low cost</a:t>
            </a:r>
            <a:r>
              <a:rPr lang="en-US" sz="2490" b="0" u="none" strike="noStrike">
                <a:solidFill>
                  <a:srgbClr val="000000"/>
                </a:solidFill>
                <a:uFillTx/>
                <a:latin typeface="Arial"/>
                <a:ea typeface="Arial"/>
              </a:rPr>
              <a:t> : it uses low-cost Commercial Off-The-Shelf (COTS) components and verified permissive open-source libraries</a:t>
            </a:r>
            <a:endParaRPr lang="en-US" sz="2490" b="0" u="none" strike="noStrike">
              <a:solidFill>
                <a:srgbClr val="000000"/>
              </a:solidFill>
              <a:uFillTx/>
              <a:latin typeface="Arial"/>
            </a:endParaRPr>
          </a:p>
        </p:txBody>
      </p:sp>
      <p:sp>
        <p:nvSpPr>
          <p:cNvPr id="81" name="TextBox 19"/>
          <p:cNvSpPr/>
          <p:nvPr/>
        </p:nvSpPr>
        <p:spPr>
          <a:xfrm>
            <a:off x="6273360" y="2062440"/>
            <a:ext cx="4008600" cy="927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7308"/>
              </a:lnSpc>
            </a:pPr>
            <a:r>
              <a:rPr lang="en-US" sz="5220" b="1" u="none" strike="noStrike">
                <a:solidFill>
                  <a:srgbClr val="000000"/>
                </a:solidFill>
                <a:uFillTx/>
                <a:latin typeface="Canva Sans Bold"/>
                <a:ea typeface="Canva Sans Bold"/>
              </a:rPr>
              <a:t>Challenges:</a:t>
            </a:r>
            <a:endParaRPr lang="en-US" sz="5220" b="0" u="none" strike="noStrike">
              <a:solidFill>
                <a:srgbClr val="000000"/>
              </a:solidFill>
              <a:uFillTx/>
              <a:latin typeface="Arial"/>
            </a:endParaRPr>
          </a:p>
        </p:txBody>
      </p:sp>
      <p:sp>
        <p:nvSpPr>
          <p:cNvPr id="82" name="TextBox 20"/>
          <p:cNvSpPr/>
          <p:nvPr/>
        </p:nvSpPr>
        <p:spPr>
          <a:xfrm>
            <a:off x="5221800" y="3189600"/>
            <a:ext cx="6463800" cy="37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34600" lvl="1" indent="-267120" defTabSz="914400">
              <a:lnSpc>
                <a:spcPts val="2971"/>
              </a:lnSpc>
              <a:buFont typeface="Arial"/>
              <a:buChar char="•"/>
            </a:pPr>
            <a:r>
              <a:rPr lang="en-US" sz="2470" b="0" u="none" strike="noStrike">
                <a:solidFill>
                  <a:srgbClr val="000000"/>
                </a:solidFill>
                <a:uFillTx/>
                <a:latin typeface="Arial"/>
                <a:ea typeface="Arial"/>
              </a:rPr>
              <a:t> High video-processing load</a:t>
            </a:r>
            <a:endParaRPr lang="en-US" sz="2470" b="0" u="none" strike="noStrike">
              <a:solidFill>
                <a:srgbClr val="000000"/>
              </a:solidFill>
              <a:uFillTx/>
              <a:latin typeface="Arial"/>
            </a:endParaRPr>
          </a:p>
        </p:txBody>
      </p:sp>
      <p:sp>
        <p:nvSpPr>
          <p:cNvPr id="83" name="TextBox 21"/>
          <p:cNvSpPr/>
          <p:nvPr/>
        </p:nvSpPr>
        <p:spPr>
          <a:xfrm>
            <a:off x="5205240" y="5834160"/>
            <a:ext cx="5064120" cy="41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94000" lvl="1" indent="-297000" defTabSz="914400">
              <a:lnSpc>
                <a:spcPts val="3302"/>
              </a:lnSpc>
              <a:buFont typeface="Arial"/>
              <a:buChar char="•"/>
            </a:pPr>
            <a:r>
              <a:rPr lang="en-US" sz="2750" b="0" u="none" strike="noStrike">
                <a:solidFill>
                  <a:srgbClr val="000000"/>
                </a:solidFill>
                <a:uFillTx/>
                <a:latin typeface="Arial"/>
                <a:ea typeface="Arial"/>
              </a:rPr>
              <a:t>Inaccurate sensor readings:  </a:t>
            </a:r>
            <a:endParaRPr lang="en-US" sz="2750" b="0" u="none" strike="noStrike">
              <a:solidFill>
                <a:srgbClr val="000000"/>
              </a:solidFill>
              <a:uFillTx/>
              <a:latin typeface="Arial"/>
            </a:endParaRPr>
          </a:p>
        </p:txBody>
      </p:sp>
      <p:sp>
        <p:nvSpPr>
          <p:cNvPr id="84" name="TextBox 22"/>
          <p:cNvSpPr/>
          <p:nvPr/>
        </p:nvSpPr>
        <p:spPr>
          <a:xfrm>
            <a:off x="12162600" y="1699560"/>
            <a:ext cx="5141160" cy="95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7509"/>
              </a:lnSpc>
            </a:pPr>
            <a:r>
              <a:rPr lang="en-US" sz="5370" b="1" u="none" strike="noStrike">
                <a:solidFill>
                  <a:srgbClr val="000000"/>
                </a:solidFill>
                <a:uFillTx/>
                <a:latin typeface="Canva Sans Bold"/>
                <a:ea typeface="Canva Sans Bold"/>
              </a:rPr>
              <a:t> Our Approach:</a:t>
            </a:r>
            <a:endParaRPr lang="en-US" sz="5370" b="0" u="none" strike="noStrike">
              <a:solidFill>
                <a:srgbClr val="000000"/>
              </a:solidFill>
              <a:uFillTx/>
              <a:latin typeface="Arial"/>
            </a:endParaRPr>
          </a:p>
        </p:txBody>
      </p:sp>
      <p:sp>
        <p:nvSpPr>
          <p:cNvPr id="85" name="TextBox 23"/>
          <p:cNvSpPr/>
          <p:nvPr/>
        </p:nvSpPr>
        <p:spPr>
          <a:xfrm>
            <a:off x="11291760" y="2932920"/>
            <a:ext cx="5298840" cy="103874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490220" lvl="1" indent="-245110">
              <a:lnSpc>
                <a:spcPts val="2727"/>
              </a:lnSpc>
              <a:buFont typeface="Arial"/>
              <a:buChar char="•"/>
            </a:pPr>
            <a:r>
              <a:rPr lang="en-US" sz="2250" b="0" u="none" strike="noStrike" dirty="0">
                <a:solidFill>
                  <a:srgbClr val="000000"/>
                </a:solidFill>
                <a:uFillTx/>
                <a:latin typeface="Arial"/>
                <a:ea typeface="Arial"/>
              </a:rPr>
              <a:t> </a:t>
            </a:r>
            <a:r>
              <a:rPr lang="en-US" sz="2250" b="1" u="none" strike="noStrike" dirty="0">
                <a:solidFill>
                  <a:srgbClr val="000000"/>
                </a:solidFill>
                <a:uFillTx/>
                <a:latin typeface="Arial Bold"/>
                <a:ea typeface="Arial Bold"/>
              </a:rPr>
              <a:t>Task Distribution:</a:t>
            </a:r>
            <a:r>
              <a:rPr lang="en-US" sz="2250" b="0" u="none" strike="noStrike" dirty="0">
                <a:solidFill>
                  <a:srgbClr val="000000"/>
                </a:solidFill>
                <a:uFillTx/>
                <a:latin typeface="Arial"/>
                <a:ea typeface="Arial"/>
              </a:rPr>
              <a:t> STM32 handles sensor processing, </a:t>
            </a:r>
            <a:r>
              <a:rPr lang="en-US" sz="2250" dirty="0">
                <a:solidFill>
                  <a:srgbClr val="000000"/>
                </a:solidFill>
                <a:latin typeface="Arial"/>
                <a:ea typeface="Arial"/>
              </a:rPr>
              <a:t>CV handling, reducing the load on raspberry pi.</a:t>
            </a:r>
            <a:endParaRPr lang="en-US" sz="2250" b="0" u="none" strike="noStrike" dirty="0">
              <a:solidFill>
                <a:srgbClr val="000000"/>
              </a:solidFill>
              <a:uFillTx/>
              <a:latin typeface="Arial"/>
              <a:cs typeface="Arial"/>
            </a:endParaRPr>
          </a:p>
        </p:txBody>
      </p:sp>
      <p:sp>
        <p:nvSpPr>
          <p:cNvPr id="86" name="TextBox 24"/>
          <p:cNvSpPr/>
          <p:nvPr/>
        </p:nvSpPr>
        <p:spPr>
          <a:xfrm>
            <a:off x="11291760" y="4133160"/>
            <a:ext cx="4740480" cy="138499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490680" lvl="1" indent="-245520" defTabSz="914400">
              <a:lnSpc>
                <a:spcPts val="2727"/>
              </a:lnSpc>
              <a:buFont typeface="Arial"/>
              <a:buChar char="•"/>
            </a:pPr>
            <a:r>
              <a:rPr lang="en-US" sz="2280" b="0" u="none" strike="noStrike" dirty="0">
                <a:solidFill>
                  <a:srgbClr val="000000"/>
                </a:solidFill>
                <a:uFillTx/>
                <a:latin typeface="Arial"/>
                <a:ea typeface="Arial"/>
              </a:rPr>
              <a:t> Offload basic sensor logic and debouncing entirely to the STM32, </a:t>
            </a:r>
            <a:r>
              <a:rPr lang="en-US" sz="2280" dirty="0">
                <a:solidFill>
                  <a:srgbClr val="000000"/>
                </a:solidFill>
                <a:latin typeface="Arial"/>
                <a:ea typeface="Arial"/>
              </a:rPr>
              <a:t>along with the ML stack inference.</a:t>
            </a:r>
            <a:endParaRPr lang="en-US" sz="2280" b="0" u="none" strike="noStrike" dirty="0">
              <a:solidFill>
                <a:srgbClr val="000000"/>
              </a:solidFill>
              <a:uFillTx/>
              <a:latin typeface="Arial"/>
            </a:endParaRPr>
          </a:p>
        </p:txBody>
      </p:sp>
      <p:sp>
        <p:nvSpPr>
          <p:cNvPr id="87" name="TextBox 25"/>
          <p:cNvSpPr/>
          <p:nvPr/>
        </p:nvSpPr>
        <p:spPr>
          <a:xfrm>
            <a:off x="11256120" y="5714280"/>
            <a:ext cx="5156640" cy="1022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483120" lvl="1" indent="-241560" defTabSz="914400">
              <a:lnSpc>
                <a:spcPts val="2684"/>
              </a:lnSpc>
              <a:buFont typeface="Arial"/>
              <a:buChar char="•"/>
            </a:pPr>
            <a:r>
              <a:rPr lang="en-US" sz="2230" b="0" u="none" strike="noStrike">
                <a:solidFill>
                  <a:srgbClr val="000000"/>
                </a:solidFill>
                <a:uFillTx/>
                <a:latin typeface="Arial"/>
                <a:ea typeface="Arial"/>
              </a:rPr>
              <a:t>Use </a:t>
            </a:r>
            <a:r>
              <a:rPr lang="en-US" sz="2230" b="1" u="none" strike="noStrike">
                <a:solidFill>
                  <a:srgbClr val="000000"/>
                </a:solidFill>
                <a:uFillTx/>
                <a:latin typeface="Arial Bold"/>
                <a:ea typeface="Arial Bold"/>
              </a:rPr>
              <a:t>INT8</a:t>
            </a:r>
            <a:r>
              <a:rPr lang="en-US" sz="2230" b="0" u="none" strike="noStrike">
                <a:solidFill>
                  <a:srgbClr val="000000"/>
                </a:solidFill>
                <a:uFillTx/>
                <a:latin typeface="Arial"/>
                <a:ea typeface="Arial"/>
              </a:rPr>
              <a:t> post-training quantization on the vision models to drastically reduce CPU load</a:t>
            </a:r>
            <a:endParaRPr lang="en-US" sz="2230" b="0" u="none" strike="noStrike">
              <a:solidFill>
                <a:srgbClr val="000000"/>
              </a:solidFill>
              <a:uFillTx/>
              <a:latin typeface="Arial"/>
            </a:endParaRPr>
          </a:p>
        </p:txBody>
      </p:sp>
      <p:grpSp>
        <p:nvGrpSpPr>
          <p:cNvPr id="88" name="Group 26"/>
          <p:cNvGrpSpPr/>
          <p:nvPr/>
        </p:nvGrpSpPr>
        <p:grpSpPr>
          <a:xfrm>
            <a:off x="15159960" y="127080"/>
            <a:ext cx="2862000" cy="1311840"/>
            <a:chOff x="15159960" y="127080"/>
            <a:chExt cx="2862000" cy="1311840"/>
          </a:xfrm>
        </p:grpSpPr>
        <p:sp>
          <p:nvSpPr>
            <p:cNvPr id="89" name="Freeform 27"/>
            <p:cNvSpPr/>
            <p:nvPr/>
          </p:nvSpPr>
          <p:spPr>
            <a:xfrm>
              <a:off x="15159960" y="127080"/>
              <a:ext cx="2862000" cy="1311840"/>
            </a:xfrm>
            <a:custGeom>
              <a:avLst/>
              <a:gdLst>
                <a:gd name="textAreaLeft" fmla="*/ 0 w 2862000"/>
                <a:gd name="textAreaRight" fmla="*/ 2862360 w 2862000"/>
                <a:gd name="textAreaTop" fmla="*/ 0 h 1311840"/>
                <a:gd name="textAreaBottom" fmla="*/ 1312200 h 1311840"/>
              </a:gdLst>
              <a:ahLst/>
              <a:cxnLst/>
              <a:rect l="textAreaLeft" t="textAreaTop" r="textAreaRight" b="textAreaBottom"/>
              <a:pathLst>
                <a:path w="4571506" h="2095752">
                  <a:moveTo>
                    <a:pt x="0" y="0"/>
                  </a:moveTo>
                  <a:lnTo>
                    <a:pt x="4571506" y="0"/>
                  </a:lnTo>
                  <a:lnTo>
                    <a:pt x="4571506" y="2095752"/>
                  </a:lnTo>
                  <a:lnTo>
                    <a:pt x="0" y="2095752"/>
                  </a:lnTo>
                  <a:lnTo>
                    <a:pt x="0" y="0"/>
                  </a:lnTo>
                  <a:close/>
                </a:path>
              </a:pathLst>
            </a:custGeom>
            <a:blipFill rotWithShape="0">
              <a:blip r:embed="rId7"/>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grpSp>
      <p:sp>
        <p:nvSpPr>
          <p:cNvPr id="90" name="Freeform 28"/>
          <p:cNvSpPr/>
          <p:nvPr/>
        </p:nvSpPr>
        <p:spPr>
          <a:xfrm>
            <a:off x="146160" y="3231360"/>
            <a:ext cx="4768200" cy="4768200"/>
          </a:xfrm>
          <a:custGeom>
            <a:avLst/>
            <a:gdLst>
              <a:gd name="textAreaLeft" fmla="*/ 0 w 4768200"/>
              <a:gd name="textAreaRight" fmla="*/ 4768560 w 4768200"/>
              <a:gd name="textAreaTop" fmla="*/ 0 h 4768200"/>
              <a:gd name="textAreaBottom" fmla="*/ 4768560 h 4768200"/>
            </a:gdLst>
            <a:ahLst/>
            <a:cxnLst/>
            <a:rect l="textAreaLeft" t="textAreaTop" r="textAreaRight" b="textAreaBottom"/>
            <a:pathLst>
              <a:path w="4768633" h="4768633">
                <a:moveTo>
                  <a:pt x="0" y="0"/>
                </a:moveTo>
                <a:lnTo>
                  <a:pt x="4768633" y="0"/>
                </a:lnTo>
                <a:lnTo>
                  <a:pt x="4768633" y="4768633"/>
                </a:lnTo>
                <a:lnTo>
                  <a:pt x="0" y="4768633"/>
                </a:lnTo>
                <a:lnTo>
                  <a:pt x="0" y="0"/>
                </a:lnTo>
                <a:close/>
              </a:path>
            </a:pathLst>
          </a:custGeom>
          <a:blipFill rotWithShape="0">
            <a:blip>
              <a:extLst>
                <a:ext uri="{96DAC541-7B7A-43D3-8B79-37D633B846F1}">
                  <asvg:svgBlip xmlns:asvg="http://schemas.microsoft.com/office/drawing/2016/SVG/main" r:embed="rId6"/>
                </a:ext>
              </a:extLst>
            </a:blip>
            <a:srcRect/>
            <a:stretch>
              <a:fillRect l="-3" t="-3" r="-3" b="-3"/>
            </a:stretch>
          </a:blipFill>
          <a:ln w="38100" cap="sq">
            <a:solidFill>
              <a:srgbClr val="0070C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91" name="Freeform 29"/>
          <p:cNvSpPr/>
          <p:nvPr/>
        </p:nvSpPr>
        <p:spPr>
          <a:xfrm>
            <a:off x="11278101" y="2598835"/>
            <a:ext cx="6913440" cy="6913440"/>
          </a:xfrm>
          <a:custGeom>
            <a:avLst/>
            <a:gdLst>
              <a:gd name="textAreaLeft" fmla="*/ 0 w 6913440"/>
              <a:gd name="textAreaRight" fmla="*/ 6913800 w 6913440"/>
              <a:gd name="textAreaTop" fmla="*/ 0 h 6913440"/>
              <a:gd name="textAreaBottom" fmla="*/ 6913800 h 6913440"/>
            </a:gdLst>
            <a:ahLst/>
            <a:cxnLst/>
            <a:rect l="textAreaLeft" t="textAreaTop" r="textAreaRight" b="textAreaBottom"/>
            <a:pathLst>
              <a:path w="6913773" h="6913773">
                <a:moveTo>
                  <a:pt x="0" y="0"/>
                </a:moveTo>
                <a:lnTo>
                  <a:pt x="6913773" y="0"/>
                </a:lnTo>
                <a:lnTo>
                  <a:pt x="6913773" y="6913772"/>
                </a:lnTo>
                <a:lnTo>
                  <a:pt x="0" y="6913772"/>
                </a:lnTo>
                <a:lnTo>
                  <a:pt x="0" y="0"/>
                </a:lnTo>
                <a:close/>
              </a:path>
            </a:pathLst>
          </a:custGeom>
          <a:blipFill rotWithShape="0">
            <a:blip>
              <a:extLst>
                <a:ext uri="{96DAC541-7B7A-43D3-8B79-37D633B846F1}">
                  <asvg:svgBlip xmlns:asvg="http://schemas.microsoft.com/office/drawing/2016/SVG/main" r:embed="rId6"/>
                </a:ext>
              </a:extLst>
            </a:blip>
            <a:srcRect/>
            <a:stretch>
              <a:fillRect l="-2" t="-2" r="-2" b="-2"/>
            </a:stretch>
          </a:blipFill>
          <a:ln w="38100" cap="sq">
            <a:solidFill>
              <a:srgbClr val="0070C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grpSp>
        <p:nvGrpSpPr>
          <p:cNvPr id="92" name="Group 30"/>
          <p:cNvGrpSpPr/>
          <p:nvPr/>
        </p:nvGrpSpPr>
        <p:grpSpPr>
          <a:xfrm>
            <a:off x="0" y="9595800"/>
            <a:ext cx="18794160" cy="775440"/>
            <a:chOff x="0" y="9595800"/>
            <a:chExt cx="18794160" cy="775440"/>
          </a:xfrm>
        </p:grpSpPr>
        <p:sp>
          <p:nvSpPr>
            <p:cNvPr id="93" name="Freeform 31"/>
            <p:cNvSpPr/>
            <p:nvPr/>
          </p:nvSpPr>
          <p:spPr>
            <a:xfrm>
              <a:off x="0" y="9595800"/>
              <a:ext cx="18794160" cy="775440"/>
            </a:xfrm>
            <a:custGeom>
              <a:avLst/>
              <a:gdLst>
                <a:gd name="textAreaLeft" fmla="*/ 0 w 18794160"/>
                <a:gd name="textAreaRight" fmla="*/ 18794520 w 18794160"/>
                <a:gd name="textAreaTop" fmla="*/ 0 h 775440"/>
                <a:gd name="textAreaBottom" fmla="*/ 775800 h 775440"/>
              </a:gdLst>
              <a:ahLst/>
              <a:cxnLst/>
              <a:rect l="textAreaLeft" t="textAreaTop" r="textAreaRight" b="textAreaBottom"/>
              <a:pathLst>
                <a:path w="24384000" h="1006475">
                  <a:moveTo>
                    <a:pt x="0" y="0"/>
                  </a:moveTo>
                  <a:lnTo>
                    <a:pt x="24384000" y="0"/>
                  </a:lnTo>
                  <a:lnTo>
                    <a:pt x="24384000" y="1006475"/>
                  </a:lnTo>
                  <a:lnTo>
                    <a:pt x="0" y="1006475"/>
                  </a:lnTo>
                  <a:close/>
                </a:path>
              </a:pathLst>
            </a:custGeom>
            <a:solidFill>
              <a:srgbClr val="0070C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uFillTx/>
                <a:latin typeface="Arial"/>
              </a:endParaRPr>
            </a:p>
          </p:txBody>
        </p:sp>
      </p:grpSp>
      <p:grpSp>
        <p:nvGrpSpPr>
          <p:cNvPr id="94" name="Group 32"/>
          <p:cNvGrpSpPr/>
          <p:nvPr/>
        </p:nvGrpSpPr>
        <p:grpSpPr>
          <a:xfrm>
            <a:off x="13091040" y="9469800"/>
            <a:ext cx="4266720" cy="561600"/>
            <a:chOff x="13091040" y="9469800"/>
            <a:chExt cx="4266720" cy="561600"/>
          </a:xfrm>
        </p:grpSpPr>
        <p:sp>
          <p:nvSpPr>
            <p:cNvPr id="95" name="Freeform 33"/>
            <p:cNvSpPr/>
            <p:nvPr/>
          </p:nvSpPr>
          <p:spPr>
            <a:xfrm>
              <a:off x="13091040" y="9483840"/>
              <a:ext cx="4266720" cy="547200"/>
            </a:xfrm>
            <a:custGeom>
              <a:avLst/>
              <a:gdLst>
                <a:gd name="textAreaLeft" fmla="*/ 0 w 4266720"/>
                <a:gd name="textAreaRight" fmla="*/ 4267080 w 4266720"/>
                <a:gd name="textAreaTop" fmla="*/ 0 h 547200"/>
                <a:gd name="textAreaBottom" fmla="*/ 547560 h 547200"/>
              </a:gdLst>
              <a:ahLst/>
              <a:cxnLst/>
              <a:rect l="textAreaLeft" t="textAreaTop" r="textAreaRight" b="textAreaBottom"/>
              <a:pathLst>
                <a:path w="5689600" h="730250">
                  <a:moveTo>
                    <a:pt x="0" y="0"/>
                  </a:moveTo>
                  <a:lnTo>
                    <a:pt x="5689600" y="0"/>
                  </a:lnTo>
                  <a:lnTo>
                    <a:pt x="5689600" y="730250"/>
                  </a:lnTo>
                  <a:lnTo>
                    <a:pt x="0" y="730250"/>
                  </a:lnTo>
                  <a:close/>
                </a:path>
              </a:pathLst>
            </a:custGeom>
            <a:blipFill rotWithShape="0">
              <a:blip r:embed="rId3">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96" name="TextBox 34"/>
            <p:cNvSpPr/>
            <p:nvPr/>
          </p:nvSpPr>
          <p:spPr>
            <a:xfrm>
              <a:off x="13091040" y="9469800"/>
              <a:ext cx="4266720" cy="56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ts val="2160"/>
                </a:lnSpc>
              </a:pPr>
              <a:r>
                <a:rPr lang="en-US" sz="1800" b="1" u="none" strike="noStrike">
                  <a:solidFill>
                    <a:srgbClr val="FFFFFF"/>
                  </a:solidFill>
                  <a:uFillTx/>
                  <a:latin typeface="Arimo Bold"/>
                  <a:ea typeface="Arimo Bold"/>
                </a:rPr>
                <a:t>4</a:t>
              </a:r>
              <a:endParaRPr lang="en-US" sz="1800" b="0" u="none" strike="noStrike">
                <a:solidFill>
                  <a:srgbClr val="000000"/>
                </a:solidFill>
                <a:uFillTx/>
                <a:latin typeface="Arial"/>
              </a:endParaRPr>
            </a:p>
          </p:txBody>
        </p:sp>
      </p:grpSp>
      <p:sp>
        <p:nvSpPr>
          <p:cNvPr id="2" name="Freeform 12">
            <a:extLst>
              <a:ext uri="{FF2B5EF4-FFF2-40B4-BE49-F238E27FC236}">
                <a16:creationId xmlns:a16="http://schemas.microsoft.com/office/drawing/2014/main" id="{9ECFBCDD-DCCF-9244-D968-20C19C238C80}"/>
              </a:ext>
            </a:extLst>
          </p:cNvPr>
          <p:cNvSpPr/>
          <p:nvPr/>
        </p:nvSpPr>
        <p:spPr>
          <a:xfrm>
            <a:off x="6058800" y="3630960"/>
            <a:ext cx="4590720" cy="1892520"/>
          </a:xfrm>
          <a:custGeom>
            <a:avLst/>
            <a:gdLst>
              <a:gd name="textAreaLeft" fmla="*/ 0 w 4590720"/>
              <a:gd name="textAreaRight" fmla="*/ 4591080 w 4590720"/>
              <a:gd name="textAreaTop" fmla="*/ 0 h 1892520"/>
              <a:gd name="textAreaBottom" fmla="*/ 1892880 h 1892520"/>
            </a:gdLst>
            <a:ahLst/>
            <a:cxnLst/>
            <a:rect l="textAreaLeft" t="textAreaTop" r="textAreaRight" b="textAreaBottom"/>
            <a:pathLst>
              <a:path w="4591150" h="1892810">
                <a:moveTo>
                  <a:pt x="0" y="0"/>
                </a:moveTo>
                <a:lnTo>
                  <a:pt x="4591150" y="0"/>
                </a:lnTo>
                <a:lnTo>
                  <a:pt x="4591150" y="1892811"/>
                </a:lnTo>
                <a:lnTo>
                  <a:pt x="0" y="1892811"/>
                </a:lnTo>
                <a:lnTo>
                  <a:pt x="0" y="0"/>
                </a:lnTo>
                <a:close/>
              </a:path>
            </a:pathLst>
          </a:custGeom>
          <a:blipFill rotWithShape="0">
            <a:blip r:embed="rId8"/>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rgbClr val="000000"/>
              </a:solidFill>
              <a:uFillTx/>
              <a:latin typeface="Arial"/>
            </a:endParaRPr>
          </a:p>
        </p:txBody>
      </p:sp>
      <p:sp>
        <p:nvSpPr>
          <p:cNvPr id="4" name="Freeform 13">
            <a:extLst>
              <a:ext uri="{FF2B5EF4-FFF2-40B4-BE49-F238E27FC236}">
                <a16:creationId xmlns:a16="http://schemas.microsoft.com/office/drawing/2014/main" id="{43F3122C-6D02-5303-3E2C-55FFEB0B3E8B}"/>
              </a:ext>
            </a:extLst>
          </p:cNvPr>
          <p:cNvSpPr/>
          <p:nvPr/>
        </p:nvSpPr>
        <p:spPr>
          <a:xfrm>
            <a:off x="16408743" y="2928209"/>
            <a:ext cx="1534320" cy="3467880"/>
          </a:xfrm>
          <a:custGeom>
            <a:avLst/>
            <a:gdLst>
              <a:gd name="textAreaLeft" fmla="*/ 0 w 1534320"/>
              <a:gd name="textAreaRight" fmla="*/ 1534680 w 1534320"/>
              <a:gd name="textAreaTop" fmla="*/ 0 h 3467880"/>
              <a:gd name="textAreaBottom" fmla="*/ 3468240 h 3467880"/>
            </a:gdLst>
            <a:ahLst/>
            <a:cxnLst/>
            <a:rect l="textAreaLeft" t="textAreaTop" r="textAreaRight" b="textAreaBottom"/>
            <a:pathLst>
              <a:path w="1534715" h="3468320">
                <a:moveTo>
                  <a:pt x="0" y="0"/>
                </a:moveTo>
                <a:lnTo>
                  <a:pt x="1534715" y="0"/>
                </a:lnTo>
                <a:lnTo>
                  <a:pt x="1534715" y="3468321"/>
                </a:lnTo>
                <a:lnTo>
                  <a:pt x="0" y="3468321"/>
                </a:lnTo>
                <a:lnTo>
                  <a:pt x="0" y="0"/>
                </a:lnTo>
                <a:close/>
              </a:path>
            </a:pathLst>
          </a:custGeom>
          <a:blipFill rotWithShape="0">
            <a:blip r:embed="rId9"/>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a:solidFill>
                <a:srgbClr val="000000"/>
              </a:solidFill>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Group 2"/>
          <p:cNvGrpSpPr/>
          <p:nvPr/>
        </p:nvGrpSpPr>
        <p:grpSpPr>
          <a:xfrm>
            <a:off x="0" y="9532080"/>
            <a:ext cx="18287640" cy="754560"/>
            <a:chOff x="0" y="9532080"/>
            <a:chExt cx="18287640" cy="754560"/>
          </a:xfrm>
        </p:grpSpPr>
        <p:sp>
          <p:nvSpPr>
            <p:cNvPr id="98" name="Freeform 3"/>
            <p:cNvSpPr/>
            <p:nvPr/>
          </p:nvSpPr>
          <p:spPr>
            <a:xfrm>
              <a:off x="0" y="9532080"/>
              <a:ext cx="18287640" cy="754560"/>
            </a:xfrm>
            <a:custGeom>
              <a:avLst/>
              <a:gdLst>
                <a:gd name="textAreaLeft" fmla="*/ 0 w 18287640"/>
                <a:gd name="textAreaRight" fmla="*/ 18288000 w 18287640"/>
                <a:gd name="textAreaTop" fmla="*/ 0 h 754560"/>
                <a:gd name="textAreaBottom" fmla="*/ 754920 h 754560"/>
              </a:gdLst>
              <a:ahLst/>
              <a:cxnLst/>
              <a:rect l="textAreaLeft" t="textAreaTop" r="textAreaRight" b="textAreaBottom"/>
              <a:pathLst>
                <a:path w="24384000" h="1006475">
                  <a:moveTo>
                    <a:pt x="0" y="0"/>
                  </a:moveTo>
                  <a:lnTo>
                    <a:pt x="24384000" y="0"/>
                  </a:lnTo>
                  <a:lnTo>
                    <a:pt x="24384000" y="1006475"/>
                  </a:lnTo>
                  <a:lnTo>
                    <a:pt x="0" y="1006475"/>
                  </a:lnTo>
                  <a:close/>
                </a:path>
              </a:pathLst>
            </a:custGeom>
            <a:solidFill>
              <a:srgbClr val="0070C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uFillTx/>
                <a:latin typeface="Arial"/>
              </a:endParaRPr>
            </a:p>
          </p:txBody>
        </p:sp>
      </p:grpSp>
      <p:grpSp>
        <p:nvGrpSpPr>
          <p:cNvPr id="99" name="Group 4"/>
          <p:cNvGrpSpPr/>
          <p:nvPr/>
        </p:nvGrpSpPr>
        <p:grpSpPr>
          <a:xfrm>
            <a:off x="4170960" y="45000"/>
            <a:ext cx="9515160" cy="1735920"/>
            <a:chOff x="4170960" y="45000"/>
            <a:chExt cx="9515160" cy="1735920"/>
          </a:xfrm>
        </p:grpSpPr>
        <p:sp>
          <p:nvSpPr>
            <p:cNvPr id="100" name="Freeform 5"/>
            <p:cNvSpPr/>
            <p:nvPr/>
          </p:nvSpPr>
          <p:spPr>
            <a:xfrm>
              <a:off x="4170960" y="66600"/>
              <a:ext cx="9515160" cy="1714320"/>
            </a:xfrm>
            <a:custGeom>
              <a:avLst/>
              <a:gdLst>
                <a:gd name="textAreaLeft" fmla="*/ 0 w 9515160"/>
                <a:gd name="textAreaRight" fmla="*/ 9515520 w 9515160"/>
                <a:gd name="textAreaTop" fmla="*/ 0 h 1714320"/>
                <a:gd name="textAreaBottom" fmla="*/ 1714680 h 1714320"/>
              </a:gdLst>
              <a:ahLst/>
              <a:cxnLst/>
              <a:rect l="textAreaLeft" t="textAreaTop" r="textAreaRight" b="textAreaBottom"/>
              <a:pathLst>
                <a:path w="12687358" h="2286000">
                  <a:moveTo>
                    <a:pt x="0" y="0"/>
                  </a:moveTo>
                  <a:lnTo>
                    <a:pt x="12687358" y="0"/>
                  </a:lnTo>
                  <a:lnTo>
                    <a:pt x="12687358" y="2286000"/>
                  </a:lnTo>
                  <a:lnTo>
                    <a:pt x="0" y="2286000"/>
                  </a:lnTo>
                  <a:close/>
                </a:path>
              </a:pathLst>
            </a:custGeom>
            <a:blipFill rotWithShape="0">
              <a:blip r:embed="rId2">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01" name="TextBox 6"/>
            <p:cNvSpPr/>
            <p:nvPr/>
          </p:nvSpPr>
          <p:spPr>
            <a:xfrm>
              <a:off x="4170960" y="45000"/>
              <a:ext cx="9515160" cy="173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6480"/>
                </a:lnSpc>
              </a:pPr>
              <a:r>
                <a:rPr lang="en-US" sz="5400" b="1" u="none" strike="noStrike">
                  <a:solidFill>
                    <a:srgbClr val="000000"/>
                  </a:solidFill>
                  <a:uFillTx/>
                  <a:latin typeface="Times New Roman Bold"/>
                  <a:ea typeface="Times New Roman Bold"/>
                </a:rPr>
                <a:t>IMPACT AND BENEFITS</a:t>
              </a:r>
              <a:endParaRPr lang="en-US" sz="5400" b="0" u="none" strike="noStrike">
                <a:solidFill>
                  <a:srgbClr val="000000"/>
                </a:solidFill>
                <a:uFillTx/>
                <a:latin typeface="Arial"/>
              </a:endParaRPr>
            </a:p>
          </p:txBody>
        </p:sp>
      </p:grpSp>
      <p:grpSp>
        <p:nvGrpSpPr>
          <p:cNvPr id="102" name="Group 7"/>
          <p:cNvGrpSpPr/>
          <p:nvPr/>
        </p:nvGrpSpPr>
        <p:grpSpPr>
          <a:xfrm>
            <a:off x="13106520" y="9520200"/>
            <a:ext cx="4266720" cy="561600"/>
            <a:chOff x="13106520" y="9520200"/>
            <a:chExt cx="4266720" cy="561600"/>
          </a:xfrm>
        </p:grpSpPr>
        <p:sp>
          <p:nvSpPr>
            <p:cNvPr id="103" name="Freeform 8"/>
            <p:cNvSpPr/>
            <p:nvPr/>
          </p:nvSpPr>
          <p:spPr>
            <a:xfrm>
              <a:off x="13106520" y="9534600"/>
              <a:ext cx="4266720" cy="547200"/>
            </a:xfrm>
            <a:custGeom>
              <a:avLst/>
              <a:gdLst>
                <a:gd name="textAreaLeft" fmla="*/ 0 w 4266720"/>
                <a:gd name="textAreaRight" fmla="*/ 4267080 w 4266720"/>
                <a:gd name="textAreaTop" fmla="*/ 0 h 547200"/>
                <a:gd name="textAreaBottom" fmla="*/ 547560 h 547200"/>
              </a:gdLst>
              <a:ahLst/>
              <a:cxnLst/>
              <a:rect l="textAreaLeft" t="textAreaTop" r="textAreaRight" b="textAreaBottom"/>
              <a:pathLst>
                <a:path w="5689600" h="730250">
                  <a:moveTo>
                    <a:pt x="0" y="0"/>
                  </a:moveTo>
                  <a:lnTo>
                    <a:pt x="5689600" y="0"/>
                  </a:lnTo>
                  <a:lnTo>
                    <a:pt x="5689600" y="730250"/>
                  </a:lnTo>
                  <a:lnTo>
                    <a:pt x="0" y="730250"/>
                  </a:lnTo>
                  <a:close/>
                </a:path>
              </a:pathLst>
            </a:custGeom>
            <a:blipFill rotWithShape="0">
              <a:blip r:embed="rId3">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04" name="TextBox 9"/>
            <p:cNvSpPr/>
            <p:nvPr/>
          </p:nvSpPr>
          <p:spPr>
            <a:xfrm>
              <a:off x="13106520" y="9520200"/>
              <a:ext cx="4266720" cy="56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ts val="2160"/>
                </a:lnSpc>
              </a:pPr>
              <a:r>
                <a:rPr lang="en-US" sz="1800" b="1" u="none" strike="noStrike">
                  <a:solidFill>
                    <a:srgbClr val="FFFFFF"/>
                  </a:solidFill>
                  <a:uFillTx/>
                  <a:latin typeface="Arimo Bold"/>
                  <a:ea typeface="Arimo Bold"/>
                </a:rPr>
                <a:t>5</a:t>
              </a:r>
              <a:endParaRPr lang="en-US" sz="1800" b="0" u="none" strike="noStrike">
                <a:solidFill>
                  <a:srgbClr val="000000"/>
                </a:solidFill>
                <a:uFillTx/>
                <a:latin typeface="Arial"/>
              </a:endParaRPr>
            </a:p>
          </p:txBody>
        </p:sp>
      </p:grpSp>
      <p:grpSp>
        <p:nvGrpSpPr>
          <p:cNvPr id="105" name="Group 10"/>
          <p:cNvGrpSpPr/>
          <p:nvPr/>
        </p:nvGrpSpPr>
        <p:grpSpPr>
          <a:xfrm>
            <a:off x="475560" y="316440"/>
            <a:ext cx="1915560" cy="1291680"/>
            <a:chOff x="475560" y="316440"/>
            <a:chExt cx="1915560" cy="1291680"/>
          </a:xfrm>
        </p:grpSpPr>
        <p:sp>
          <p:nvSpPr>
            <p:cNvPr id="106" name="Freeform 11"/>
            <p:cNvSpPr/>
            <p:nvPr/>
          </p:nvSpPr>
          <p:spPr>
            <a:xfrm>
              <a:off x="475560" y="359280"/>
              <a:ext cx="1915560" cy="1248840"/>
            </a:xfrm>
            <a:custGeom>
              <a:avLst/>
              <a:gdLst>
                <a:gd name="textAreaLeft" fmla="*/ 0 w 1915560"/>
                <a:gd name="textAreaRight" fmla="*/ 1915920 w 1915560"/>
                <a:gd name="textAreaTop" fmla="*/ 0 h 1248840"/>
                <a:gd name="textAreaBottom" fmla="*/ 1249200 h 1248840"/>
              </a:gdLst>
              <a:ahLst/>
              <a:cxnLst/>
              <a:rect l="textAreaLeft" t="textAreaTop" r="textAreaRight" b="textAreaBottom"/>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07" name="TextBox 12"/>
            <p:cNvSpPr/>
            <p:nvPr/>
          </p:nvSpPr>
          <p:spPr>
            <a:xfrm>
              <a:off x="475560" y="316440"/>
              <a:ext cx="1915560" cy="12916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240"/>
                </a:lnSpc>
              </a:pPr>
              <a:r>
                <a:rPr lang="en-US" sz="2700" dirty="0">
                  <a:solidFill>
                    <a:srgbClr val="000000"/>
                  </a:solidFill>
                  <a:latin typeface="Calibri (MS)"/>
                </a:rPr>
                <a:t>Tech Gladiators</a:t>
              </a:r>
              <a:endParaRPr lang="en-US" sz="2700" b="0" u="none" strike="noStrike" dirty="0">
                <a:solidFill>
                  <a:srgbClr val="000000"/>
                </a:solidFill>
                <a:uFillTx/>
                <a:latin typeface="Arial"/>
              </a:endParaRPr>
            </a:p>
          </p:txBody>
        </p:sp>
      </p:grpSp>
      <p:sp>
        <p:nvSpPr>
          <p:cNvPr id="108" name="Freeform 13"/>
          <p:cNvSpPr/>
          <p:nvPr/>
        </p:nvSpPr>
        <p:spPr>
          <a:xfrm>
            <a:off x="478367" y="2820876"/>
            <a:ext cx="4930331" cy="1774472"/>
          </a:xfrm>
          <a:custGeom>
            <a:avLst/>
            <a:gdLst>
              <a:gd name="textAreaLeft" fmla="*/ 0 w 8218080"/>
              <a:gd name="textAreaRight" fmla="*/ 8218440 w 8218080"/>
              <a:gd name="textAreaTop" fmla="*/ 0 h 2818080"/>
              <a:gd name="textAreaBottom" fmla="*/ 2818440 h 2818080"/>
            </a:gdLst>
            <a:ahLst/>
            <a:cxnLst/>
            <a:rect l="textAreaLeft" t="textAreaTop" r="textAreaRight" b="textAreaBottom"/>
            <a:pathLst>
              <a:path w="8218537" h="2818419">
                <a:moveTo>
                  <a:pt x="0" y="0"/>
                </a:moveTo>
                <a:lnTo>
                  <a:pt x="8218537" y="0"/>
                </a:lnTo>
                <a:lnTo>
                  <a:pt x="8218537" y="2818418"/>
                </a:lnTo>
                <a:lnTo>
                  <a:pt x="0" y="2818418"/>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12" name="TextBox 17"/>
          <p:cNvSpPr/>
          <p:nvPr/>
        </p:nvSpPr>
        <p:spPr>
          <a:xfrm>
            <a:off x="475560" y="2256840"/>
            <a:ext cx="5165244" cy="1129796"/>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just" defTabSz="914400">
              <a:lnSpc>
                <a:spcPts val="4757"/>
              </a:lnSpc>
            </a:pPr>
            <a:r>
              <a:rPr lang="en-US" sz="2000" b="1" u="none" strike="noStrike" dirty="0">
                <a:solidFill>
                  <a:srgbClr val="000000"/>
                </a:solidFill>
                <a:uFillTx/>
                <a:latin typeface="Arial Bold"/>
                <a:ea typeface="Arial Bold"/>
              </a:rPr>
              <a:t>Potential impact on the target audience:</a:t>
            </a:r>
            <a:r>
              <a:rPr lang="en-US" sz="3950" b="1" u="none" strike="noStrike" dirty="0">
                <a:solidFill>
                  <a:srgbClr val="000000"/>
                </a:solidFill>
                <a:uFillTx/>
                <a:latin typeface="Arial Bold"/>
                <a:ea typeface="Arial Bold"/>
              </a:rPr>
              <a:t> </a:t>
            </a:r>
            <a:endParaRPr lang="en-US" sz="3950" b="0" u="none" strike="noStrike" dirty="0">
              <a:solidFill>
                <a:srgbClr val="000000"/>
              </a:solidFill>
              <a:uFillTx/>
              <a:latin typeface="Arial"/>
            </a:endParaRPr>
          </a:p>
          <a:p>
            <a:pPr algn="just" defTabSz="914400">
              <a:lnSpc>
                <a:spcPts val="4757"/>
              </a:lnSpc>
            </a:pPr>
            <a:endParaRPr lang="en-US" sz="1800" b="0" u="none" strike="noStrike">
              <a:solidFill>
                <a:srgbClr val="000000"/>
              </a:solidFill>
              <a:uFillTx/>
              <a:latin typeface="Arial"/>
            </a:endParaRPr>
          </a:p>
        </p:txBody>
      </p:sp>
      <p:grpSp>
        <p:nvGrpSpPr>
          <p:cNvPr id="117" name="Group 22"/>
          <p:cNvGrpSpPr/>
          <p:nvPr/>
        </p:nvGrpSpPr>
        <p:grpSpPr>
          <a:xfrm>
            <a:off x="14605560" y="327960"/>
            <a:ext cx="2862000" cy="1311840"/>
            <a:chOff x="14605560" y="327960"/>
            <a:chExt cx="2862000" cy="1311840"/>
          </a:xfrm>
        </p:grpSpPr>
        <p:sp>
          <p:nvSpPr>
            <p:cNvPr id="118" name="Freeform 23"/>
            <p:cNvSpPr/>
            <p:nvPr/>
          </p:nvSpPr>
          <p:spPr>
            <a:xfrm>
              <a:off x="14605560" y="327960"/>
              <a:ext cx="2862000" cy="1311840"/>
            </a:xfrm>
            <a:custGeom>
              <a:avLst/>
              <a:gdLst>
                <a:gd name="textAreaLeft" fmla="*/ 0 w 2862000"/>
                <a:gd name="textAreaRight" fmla="*/ 2862360 w 2862000"/>
                <a:gd name="textAreaTop" fmla="*/ 0 h 1311840"/>
                <a:gd name="textAreaBottom" fmla="*/ 1312200 h 1311840"/>
              </a:gdLst>
              <a:ahLst/>
              <a:cxnLst/>
              <a:rect l="textAreaLeft" t="textAreaTop" r="textAreaRight" b="textAreaBottom"/>
              <a:pathLst>
                <a:path w="4571506" h="2095752">
                  <a:moveTo>
                    <a:pt x="0" y="0"/>
                  </a:moveTo>
                  <a:lnTo>
                    <a:pt x="4571506" y="0"/>
                  </a:lnTo>
                  <a:lnTo>
                    <a:pt x="4571506" y="2095752"/>
                  </a:lnTo>
                  <a:lnTo>
                    <a:pt x="0" y="2095752"/>
                  </a:lnTo>
                  <a:lnTo>
                    <a:pt x="0" y="0"/>
                  </a:lnTo>
                  <a:close/>
                </a:path>
              </a:pathLst>
            </a:cu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grpSp>
      <p:grpSp>
        <p:nvGrpSpPr>
          <p:cNvPr id="8" name="Group 7">
            <a:extLst>
              <a:ext uri="{FF2B5EF4-FFF2-40B4-BE49-F238E27FC236}">
                <a16:creationId xmlns:a16="http://schemas.microsoft.com/office/drawing/2014/main" id="{092F21CF-8EDD-2450-9BBB-361B6988D3BD}"/>
              </a:ext>
            </a:extLst>
          </p:cNvPr>
          <p:cNvGrpSpPr/>
          <p:nvPr/>
        </p:nvGrpSpPr>
        <p:grpSpPr>
          <a:xfrm>
            <a:off x="479206" y="2349845"/>
            <a:ext cx="12106687" cy="5343138"/>
            <a:chOff x="479206" y="2349845"/>
            <a:chExt cx="12106687" cy="5343138"/>
          </a:xfrm>
        </p:grpSpPr>
        <p:sp>
          <p:nvSpPr>
            <p:cNvPr id="113" name="TextBox 18"/>
            <p:cNvSpPr/>
            <p:nvPr/>
          </p:nvSpPr>
          <p:spPr>
            <a:xfrm>
              <a:off x="5991413" y="2349845"/>
              <a:ext cx="6594480" cy="5220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4706"/>
                </a:lnSpc>
              </a:pPr>
              <a:r>
                <a:rPr lang="en-US" sz="2000" b="1" u="none" strike="noStrike" dirty="0">
                  <a:solidFill>
                    <a:srgbClr val="000000"/>
                  </a:solidFill>
                  <a:uFillTx/>
                  <a:latin typeface="Arial Bold"/>
                  <a:ea typeface="Arial Bold"/>
                </a:rPr>
                <a:t>Benefits of the solution:</a:t>
              </a:r>
              <a:endParaRPr lang="en-US" sz="2000" b="0" u="none" strike="noStrike">
                <a:solidFill>
                  <a:srgbClr val="000000"/>
                </a:solidFill>
                <a:uFillTx/>
                <a:latin typeface="Arial"/>
                <a:cs typeface="Arial"/>
              </a:endParaRPr>
            </a:p>
          </p:txBody>
        </p:sp>
        <p:pic>
          <p:nvPicPr>
            <p:cNvPr id="3" name="Picture 2">
              <a:extLst>
                <a:ext uri="{FF2B5EF4-FFF2-40B4-BE49-F238E27FC236}">
                  <a16:creationId xmlns:a16="http://schemas.microsoft.com/office/drawing/2014/main" id="{8282B99F-ED4E-224D-F626-AE415C722D61}"/>
                </a:ext>
              </a:extLst>
            </p:cNvPr>
            <p:cNvPicPr>
              <a:picLocks noChangeAspect="1"/>
            </p:cNvPicPr>
            <p:nvPr/>
          </p:nvPicPr>
          <p:blipFill>
            <a:blip r:embed="rId6"/>
            <a:stretch>
              <a:fillRect/>
            </a:stretch>
          </p:blipFill>
          <p:spPr>
            <a:xfrm>
              <a:off x="479206" y="4940352"/>
              <a:ext cx="5161405" cy="2752631"/>
            </a:xfrm>
            <a:prstGeom prst="rect">
              <a:avLst/>
            </a:prstGeom>
          </p:spPr>
        </p:pic>
        <p:grpSp>
          <p:nvGrpSpPr>
            <p:cNvPr id="2" name="Group 1">
              <a:extLst>
                <a:ext uri="{FF2B5EF4-FFF2-40B4-BE49-F238E27FC236}">
                  <a16:creationId xmlns:a16="http://schemas.microsoft.com/office/drawing/2014/main" id="{DD2B6149-6BD3-E0F4-2C95-5B50AAA6CA5F}"/>
                </a:ext>
              </a:extLst>
            </p:cNvPr>
            <p:cNvGrpSpPr/>
            <p:nvPr/>
          </p:nvGrpSpPr>
          <p:grpSpPr>
            <a:xfrm>
              <a:off x="5408301" y="2957869"/>
              <a:ext cx="6798507" cy="4726068"/>
              <a:chOff x="11057040" y="2743511"/>
              <a:chExt cx="7096680" cy="6348469"/>
            </a:xfrm>
          </p:grpSpPr>
          <p:sp>
            <p:nvSpPr>
              <p:cNvPr id="109" name="Freeform 14"/>
              <p:cNvSpPr/>
              <p:nvPr/>
            </p:nvSpPr>
            <p:spPr>
              <a:xfrm>
                <a:off x="12039600" y="3085920"/>
                <a:ext cx="3996600" cy="1774080"/>
              </a:xfrm>
              <a:custGeom>
                <a:avLst/>
                <a:gdLst>
                  <a:gd name="textAreaLeft" fmla="*/ 0 w 3619800"/>
                  <a:gd name="textAreaRight" fmla="*/ 3620160 w 3619800"/>
                  <a:gd name="textAreaTop" fmla="*/ 0 h 1774080"/>
                  <a:gd name="textAreaBottom" fmla="*/ 1774440 h 1774080"/>
                </a:gdLst>
                <a:ahLst/>
                <a:cxnLst/>
                <a:rect l="textAreaLeft" t="textAreaTop" r="textAreaRight" b="textAreaBottom"/>
                <a:pathLst>
                  <a:path w="3620174" h="1774432">
                    <a:moveTo>
                      <a:pt x="0" y="0"/>
                    </a:moveTo>
                    <a:lnTo>
                      <a:pt x="3620174" y="0"/>
                    </a:lnTo>
                    <a:lnTo>
                      <a:pt x="3620174" y="1774432"/>
                    </a:lnTo>
                    <a:lnTo>
                      <a:pt x="0" y="1774432"/>
                    </a:lnTo>
                    <a:lnTo>
                      <a:pt x="0" y="0"/>
                    </a:lnTo>
                    <a:close/>
                  </a:path>
                </a:pathLst>
              </a:custGeom>
              <a:blipFill rotWithShape="0">
                <a:blip r:embed="rId7"/>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11" name="Freeform 16"/>
              <p:cNvSpPr/>
              <p:nvPr/>
            </p:nvSpPr>
            <p:spPr>
              <a:xfrm>
                <a:off x="12416400" y="7306020"/>
                <a:ext cx="3909960" cy="1785960"/>
              </a:xfrm>
              <a:custGeom>
                <a:avLst/>
                <a:gdLst>
                  <a:gd name="textAreaLeft" fmla="*/ 0 w 3909960"/>
                  <a:gd name="textAreaRight" fmla="*/ 3910320 w 3909960"/>
                  <a:gd name="textAreaTop" fmla="*/ 0 h 1785960"/>
                  <a:gd name="textAreaBottom" fmla="*/ 1786320 h 1785960"/>
                </a:gdLst>
                <a:ahLst/>
                <a:cxnLst/>
                <a:rect l="textAreaLeft" t="textAreaTop" r="textAreaRight" b="textAreaBottom"/>
                <a:pathLst>
                  <a:path w="3910313" h="1786162">
                    <a:moveTo>
                      <a:pt x="0" y="0"/>
                    </a:moveTo>
                    <a:lnTo>
                      <a:pt x="3910313" y="0"/>
                    </a:lnTo>
                    <a:lnTo>
                      <a:pt x="3910313" y="1786161"/>
                    </a:lnTo>
                    <a:lnTo>
                      <a:pt x="0" y="1786161"/>
                    </a:lnTo>
                    <a:lnTo>
                      <a:pt x="0" y="0"/>
                    </a:lnTo>
                    <a:close/>
                  </a:path>
                </a:pathLst>
              </a:custGeom>
              <a:blipFill rotWithShape="0">
                <a:blip r:embed="rId8"/>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14" name="TextBox 19"/>
              <p:cNvSpPr/>
              <p:nvPr/>
            </p:nvSpPr>
            <p:spPr>
              <a:xfrm>
                <a:off x="11057040" y="2743511"/>
                <a:ext cx="7096680" cy="59620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611505" lvl="1" indent="-305435">
                  <a:lnSpc>
                    <a:spcPts val="3969"/>
                  </a:lnSpc>
                  <a:buFont typeface="Arial"/>
                  <a:buChar char="•"/>
                </a:pPr>
                <a:r>
                  <a:rPr lang="en-US" b="0" u="none" strike="noStrike" dirty="0">
                    <a:solidFill>
                      <a:srgbClr val="000000"/>
                    </a:solidFill>
                    <a:uFillTx/>
                    <a:latin typeface="Canva Sans"/>
                    <a:ea typeface="Canva Sans"/>
                  </a:rPr>
                  <a:t>Economic: </a:t>
                </a:r>
                <a:endParaRPr lang="en-US" b="0" u="none" strike="noStrike" dirty="0">
                  <a:solidFill>
                    <a:srgbClr val="000000"/>
                  </a:solidFill>
                  <a:uFillTx/>
                  <a:latin typeface="Arial"/>
                  <a:cs typeface="Arial"/>
                </a:endParaRPr>
              </a:p>
            </p:txBody>
          </p:sp>
          <p:sp>
            <p:nvSpPr>
              <p:cNvPr id="115" name="TextBox 20"/>
              <p:cNvSpPr/>
              <p:nvPr/>
            </p:nvSpPr>
            <p:spPr>
              <a:xfrm>
                <a:off x="11057040" y="4664881"/>
                <a:ext cx="6741000" cy="194419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81025" lvl="1" indent="-290830" defTabSz="914400">
                  <a:lnSpc>
                    <a:spcPts val="3770"/>
                  </a:lnSpc>
                  <a:buFont typeface="Arial"/>
                  <a:buChar char="•"/>
                </a:pPr>
                <a:r>
                  <a:rPr lang="en-US" b="0" u="none" strike="noStrike" dirty="0">
                    <a:solidFill>
                      <a:srgbClr val="000000"/>
                    </a:solidFill>
                    <a:uFillTx/>
                    <a:latin typeface="Canva Sans"/>
                    <a:ea typeface="Canva Sans"/>
                  </a:rPr>
                  <a:t> Social: </a:t>
                </a:r>
                <a:endParaRPr lang="en-US" b="0" u="none" strike="noStrike" dirty="0">
                  <a:solidFill>
                    <a:srgbClr val="000000"/>
                  </a:solidFill>
                  <a:uFillTx/>
                  <a:latin typeface="Canva Sans"/>
                </a:endParaRPr>
              </a:p>
              <a:p>
                <a:pPr marL="581025" lvl="1" indent="-290830" defTabSz="914400">
                  <a:lnSpc>
                    <a:spcPts val="3770"/>
                  </a:lnSpc>
                  <a:buFont typeface="Arial"/>
                  <a:buChar char="•"/>
                </a:pPr>
                <a:endParaRPr lang="en-US" sz="2700" b="0" u="none" strike="noStrike" dirty="0">
                  <a:solidFill>
                    <a:srgbClr val="000000"/>
                  </a:solidFill>
                  <a:uFillTx/>
                  <a:latin typeface="Canva Sans"/>
                </a:endParaRPr>
              </a:p>
              <a:p>
                <a:pPr>
                  <a:lnSpc>
                    <a:spcPts val="3770"/>
                  </a:lnSpc>
                </a:pPr>
                <a:endParaRPr lang="en-US" dirty="0">
                  <a:solidFill>
                    <a:srgbClr val="000000"/>
                  </a:solidFill>
                  <a:latin typeface="Arial"/>
                  <a:cs typeface="Arial"/>
                </a:endParaRPr>
              </a:p>
            </p:txBody>
          </p:sp>
          <p:sp>
            <p:nvSpPr>
              <p:cNvPr id="116" name="TextBox 21"/>
              <p:cNvSpPr/>
              <p:nvPr/>
            </p:nvSpPr>
            <p:spPr>
              <a:xfrm>
                <a:off x="11057040" y="6821640"/>
                <a:ext cx="7096680" cy="59620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611505" lvl="1" indent="-305435" defTabSz="914400">
                  <a:lnSpc>
                    <a:spcPts val="3969"/>
                  </a:lnSpc>
                  <a:buFont typeface="Arial"/>
                  <a:buChar char="•"/>
                </a:pPr>
                <a:r>
                  <a:rPr lang="en-US" b="0" u="none" strike="noStrike" dirty="0">
                    <a:solidFill>
                      <a:srgbClr val="000000"/>
                    </a:solidFill>
                    <a:uFillTx/>
                    <a:latin typeface="Canva Sans"/>
                    <a:ea typeface="Canva Sans"/>
                  </a:rPr>
                  <a:t>Environmental: </a:t>
                </a:r>
                <a:endParaRPr lang="en-US" b="0" u="none" strike="noStrike" dirty="0">
                  <a:solidFill>
                    <a:srgbClr val="000000"/>
                  </a:solidFill>
                  <a:uFillTx/>
                  <a:latin typeface="Arial"/>
                  <a:cs typeface="Arial"/>
                </a:endParaRPr>
              </a:p>
            </p:txBody>
          </p:sp>
          <p:pic>
            <p:nvPicPr>
              <p:cNvPr id="5" name="Picture 4">
                <a:extLst>
                  <a:ext uri="{FF2B5EF4-FFF2-40B4-BE49-F238E27FC236}">
                    <a16:creationId xmlns:a16="http://schemas.microsoft.com/office/drawing/2014/main" id="{7F191900-6180-6CEB-FD44-F64E5EEC65AA}"/>
                  </a:ext>
                </a:extLst>
              </p:cNvPr>
              <p:cNvPicPr>
                <a:picLocks noChangeAspect="1"/>
              </p:cNvPicPr>
              <p:nvPr/>
            </p:nvPicPr>
            <p:blipFill>
              <a:blip r:embed="rId9"/>
              <a:stretch>
                <a:fillRect/>
              </a:stretch>
            </p:blipFill>
            <p:spPr>
              <a:xfrm>
                <a:off x="12039600" y="5228640"/>
                <a:ext cx="4101224" cy="1513080"/>
              </a:xfrm>
              <a:prstGeom prst="rect">
                <a:avLst/>
              </a:prstGeom>
            </p:spPr>
          </p:pic>
        </p:grpSp>
      </p:grpSp>
      <p:sp>
        <p:nvSpPr>
          <p:cNvPr id="4" name="TextBox 3">
            <a:extLst>
              <a:ext uri="{FF2B5EF4-FFF2-40B4-BE49-F238E27FC236}">
                <a16:creationId xmlns:a16="http://schemas.microsoft.com/office/drawing/2014/main" id="{A769647E-881A-A30F-E579-41B5C0DE930C}"/>
              </a:ext>
            </a:extLst>
          </p:cNvPr>
          <p:cNvSpPr txBox="1"/>
          <p:nvPr/>
        </p:nvSpPr>
        <p:spPr>
          <a:xfrm>
            <a:off x="11305169" y="2402252"/>
            <a:ext cx="54088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dirty="0">
                <a:latin typeface="Arial Bold"/>
                <a:ea typeface="Calibri"/>
                <a:cs typeface="Arial Bold"/>
              </a:rPr>
              <a:t>Results</a:t>
            </a:r>
            <a:r>
              <a:rPr lang="en-US" b="1" dirty="0">
                <a:latin typeface="Arial Bold"/>
                <a:ea typeface="Calibri"/>
                <a:cs typeface="Arial Bold"/>
              </a:rPr>
              <a:t>:</a:t>
            </a:r>
            <a:endParaRPr lang="en-US" b="1">
              <a:latin typeface="Arial Bold"/>
              <a:ea typeface="Calibri"/>
              <a:cs typeface="Arial Bold"/>
            </a:endParaRPr>
          </a:p>
        </p:txBody>
      </p:sp>
      <p:pic>
        <p:nvPicPr>
          <p:cNvPr id="6" name="Picture 5">
            <a:extLst>
              <a:ext uri="{FF2B5EF4-FFF2-40B4-BE49-F238E27FC236}">
                <a16:creationId xmlns:a16="http://schemas.microsoft.com/office/drawing/2014/main" id="{6A333DE8-DECB-09E1-3AB5-1772CBB9AB8C}"/>
              </a:ext>
            </a:extLst>
          </p:cNvPr>
          <p:cNvPicPr>
            <a:picLocks noChangeAspect="1"/>
          </p:cNvPicPr>
          <p:nvPr/>
        </p:nvPicPr>
        <p:blipFill>
          <a:blip r:embed="rId10"/>
          <a:stretch>
            <a:fillRect/>
          </a:stretch>
        </p:blipFill>
        <p:spPr>
          <a:xfrm>
            <a:off x="11314044" y="2855843"/>
            <a:ext cx="5814392" cy="3084445"/>
          </a:xfrm>
          <a:prstGeom prst="rect">
            <a:avLst/>
          </a:prstGeom>
        </p:spPr>
      </p:pic>
      <p:pic>
        <p:nvPicPr>
          <p:cNvPr id="7" name="Picture 6">
            <a:extLst>
              <a:ext uri="{FF2B5EF4-FFF2-40B4-BE49-F238E27FC236}">
                <a16:creationId xmlns:a16="http://schemas.microsoft.com/office/drawing/2014/main" id="{09E5C01C-A9CD-FA17-3ECA-C8B573EB7B72}"/>
              </a:ext>
            </a:extLst>
          </p:cNvPr>
          <p:cNvPicPr>
            <a:picLocks noChangeAspect="1"/>
          </p:cNvPicPr>
          <p:nvPr/>
        </p:nvPicPr>
        <p:blipFill>
          <a:blip r:embed="rId11"/>
          <a:stretch>
            <a:fillRect/>
          </a:stretch>
        </p:blipFill>
        <p:spPr>
          <a:xfrm>
            <a:off x="11320670" y="6313005"/>
            <a:ext cx="5801140" cy="31937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Group 2"/>
          <p:cNvGrpSpPr/>
          <p:nvPr/>
        </p:nvGrpSpPr>
        <p:grpSpPr>
          <a:xfrm>
            <a:off x="0" y="9532080"/>
            <a:ext cx="18287640" cy="754560"/>
            <a:chOff x="0" y="9532080"/>
            <a:chExt cx="18287640" cy="754560"/>
          </a:xfrm>
        </p:grpSpPr>
        <p:sp>
          <p:nvSpPr>
            <p:cNvPr id="120" name="Freeform 3"/>
            <p:cNvSpPr/>
            <p:nvPr/>
          </p:nvSpPr>
          <p:spPr>
            <a:xfrm>
              <a:off x="0" y="9532080"/>
              <a:ext cx="18287640" cy="754560"/>
            </a:xfrm>
            <a:custGeom>
              <a:avLst/>
              <a:gdLst>
                <a:gd name="textAreaLeft" fmla="*/ 0 w 18287640"/>
                <a:gd name="textAreaRight" fmla="*/ 18288000 w 18287640"/>
                <a:gd name="textAreaTop" fmla="*/ 0 h 754560"/>
                <a:gd name="textAreaBottom" fmla="*/ 754920 h 754560"/>
              </a:gdLst>
              <a:ahLst/>
              <a:cxnLst/>
              <a:rect l="textAreaLeft" t="textAreaTop" r="textAreaRight" b="textAreaBottom"/>
              <a:pathLst>
                <a:path w="24384000" h="1006475">
                  <a:moveTo>
                    <a:pt x="0" y="0"/>
                  </a:moveTo>
                  <a:lnTo>
                    <a:pt x="24384000" y="0"/>
                  </a:lnTo>
                  <a:lnTo>
                    <a:pt x="24384000" y="1006475"/>
                  </a:lnTo>
                  <a:lnTo>
                    <a:pt x="0" y="1006475"/>
                  </a:lnTo>
                  <a:close/>
                </a:path>
              </a:pathLst>
            </a:custGeom>
            <a:solidFill>
              <a:srgbClr val="0070C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uFillTx/>
                <a:latin typeface="Arial"/>
              </a:endParaRPr>
            </a:p>
          </p:txBody>
        </p:sp>
      </p:grpSp>
      <p:grpSp>
        <p:nvGrpSpPr>
          <p:cNvPr id="121" name="Group 4"/>
          <p:cNvGrpSpPr/>
          <p:nvPr/>
        </p:nvGrpSpPr>
        <p:grpSpPr>
          <a:xfrm>
            <a:off x="2565720" y="784080"/>
            <a:ext cx="12077280" cy="1477800"/>
            <a:chOff x="2565720" y="784080"/>
            <a:chExt cx="12077280" cy="1477800"/>
          </a:xfrm>
        </p:grpSpPr>
        <p:sp>
          <p:nvSpPr>
            <p:cNvPr id="122" name="Freeform 5"/>
            <p:cNvSpPr/>
            <p:nvPr/>
          </p:nvSpPr>
          <p:spPr>
            <a:xfrm>
              <a:off x="2565720" y="805320"/>
              <a:ext cx="12077280" cy="1456560"/>
            </a:xfrm>
            <a:custGeom>
              <a:avLst/>
              <a:gdLst>
                <a:gd name="textAreaLeft" fmla="*/ 0 w 12077280"/>
                <a:gd name="textAreaRight" fmla="*/ 12077640 w 12077280"/>
                <a:gd name="textAreaTop" fmla="*/ 0 h 1456560"/>
                <a:gd name="textAreaBottom" fmla="*/ 1456920 h 1456560"/>
              </a:gdLst>
              <a:ahLst/>
              <a:cxnLst/>
              <a:rect l="textAreaLeft" t="textAreaTop" r="textAreaRight" b="textAreaBottom"/>
              <a:pathLst>
                <a:path w="16103600" h="1942509">
                  <a:moveTo>
                    <a:pt x="0" y="0"/>
                  </a:moveTo>
                  <a:lnTo>
                    <a:pt x="16103600" y="0"/>
                  </a:lnTo>
                  <a:lnTo>
                    <a:pt x="16103600" y="1942509"/>
                  </a:lnTo>
                  <a:lnTo>
                    <a:pt x="0" y="1942509"/>
                  </a:lnTo>
                  <a:close/>
                </a:path>
              </a:pathLst>
            </a:custGeom>
            <a:blipFill rotWithShape="0">
              <a:blip r:embed="rId2">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23" name="TextBox 6"/>
            <p:cNvSpPr/>
            <p:nvPr/>
          </p:nvSpPr>
          <p:spPr>
            <a:xfrm>
              <a:off x="2565720" y="784080"/>
              <a:ext cx="12077280" cy="147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6480"/>
                </a:lnSpc>
              </a:pPr>
              <a:r>
                <a:rPr lang="en-US" sz="5400" b="1" u="none" strike="noStrike">
                  <a:solidFill>
                    <a:srgbClr val="000000"/>
                  </a:solidFill>
                  <a:uFillTx/>
                  <a:latin typeface="Times New Roman Bold"/>
                  <a:ea typeface="Times New Roman Bold"/>
                </a:rPr>
                <a:t>RESEARCH  AND REFERENCES</a:t>
              </a:r>
              <a:endParaRPr lang="en-US" sz="5400" b="0" u="none" strike="noStrike">
                <a:solidFill>
                  <a:srgbClr val="000000"/>
                </a:solidFill>
                <a:uFillTx/>
                <a:latin typeface="Arial"/>
              </a:endParaRPr>
            </a:p>
          </p:txBody>
        </p:sp>
      </p:grpSp>
      <p:grpSp>
        <p:nvGrpSpPr>
          <p:cNvPr id="125" name="Group 8"/>
          <p:cNvGrpSpPr/>
          <p:nvPr/>
        </p:nvGrpSpPr>
        <p:grpSpPr>
          <a:xfrm>
            <a:off x="13106520" y="9520200"/>
            <a:ext cx="4266720" cy="561600"/>
            <a:chOff x="13106520" y="9520200"/>
            <a:chExt cx="4266720" cy="561600"/>
          </a:xfrm>
        </p:grpSpPr>
        <p:sp>
          <p:nvSpPr>
            <p:cNvPr id="126" name="Freeform 9"/>
            <p:cNvSpPr/>
            <p:nvPr/>
          </p:nvSpPr>
          <p:spPr>
            <a:xfrm>
              <a:off x="13106520" y="9534600"/>
              <a:ext cx="4266720" cy="547200"/>
            </a:xfrm>
            <a:custGeom>
              <a:avLst/>
              <a:gdLst>
                <a:gd name="textAreaLeft" fmla="*/ 0 w 4266720"/>
                <a:gd name="textAreaRight" fmla="*/ 4267080 w 4266720"/>
                <a:gd name="textAreaTop" fmla="*/ 0 h 547200"/>
                <a:gd name="textAreaBottom" fmla="*/ 547560 h 547200"/>
              </a:gdLst>
              <a:ahLst/>
              <a:cxnLst/>
              <a:rect l="textAreaLeft" t="textAreaTop" r="textAreaRight" b="textAreaBottom"/>
              <a:pathLst>
                <a:path w="5689600" h="730250">
                  <a:moveTo>
                    <a:pt x="0" y="0"/>
                  </a:moveTo>
                  <a:lnTo>
                    <a:pt x="5689600" y="0"/>
                  </a:lnTo>
                  <a:lnTo>
                    <a:pt x="5689600" y="730250"/>
                  </a:lnTo>
                  <a:lnTo>
                    <a:pt x="0" y="730250"/>
                  </a:lnTo>
                  <a:close/>
                </a:path>
              </a:pathLst>
            </a:custGeom>
            <a:blipFill rotWithShape="0">
              <a:blip r:embed="rId3">
                <a:alphaModFix amt="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27" name="TextBox 10"/>
            <p:cNvSpPr/>
            <p:nvPr/>
          </p:nvSpPr>
          <p:spPr>
            <a:xfrm>
              <a:off x="13106520" y="9520200"/>
              <a:ext cx="4266720" cy="56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ts val="2160"/>
                </a:lnSpc>
              </a:pPr>
              <a:r>
                <a:rPr lang="en-US" sz="1800" b="1" u="none" strike="noStrike">
                  <a:solidFill>
                    <a:srgbClr val="FFFFFF"/>
                  </a:solidFill>
                  <a:uFillTx/>
                  <a:latin typeface="Arimo Bold"/>
                  <a:ea typeface="Arimo Bold"/>
                </a:rPr>
                <a:t>6</a:t>
              </a:r>
              <a:endParaRPr lang="en-US" sz="1800" b="0" u="none" strike="noStrike">
                <a:solidFill>
                  <a:srgbClr val="000000"/>
                </a:solidFill>
                <a:uFillTx/>
                <a:latin typeface="Arial"/>
              </a:endParaRPr>
            </a:p>
          </p:txBody>
        </p:sp>
      </p:grpSp>
      <p:grpSp>
        <p:nvGrpSpPr>
          <p:cNvPr id="128" name="Group 11"/>
          <p:cNvGrpSpPr/>
          <p:nvPr/>
        </p:nvGrpSpPr>
        <p:grpSpPr>
          <a:xfrm>
            <a:off x="475560" y="316440"/>
            <a:ext cx="1915560" cy="1291680"/>
            <a:chOff x="475560" y="316440"/>
            <a:chExt cx="1915560" cy="1291680"/>
          </a:xfrm>
        </p:grpSpPr>
        <p:sp>
          <p:nvSpPr>
            <p:cNvPr id="129" name="Freeform 12"/>
            <p:cNvSpPr/>
            <p:nvPr/>
          </p:nvSpPr>
          <p:spPr>
            <a:xfrm>
              <a:off x="475560" y="359280"/>
              <a:ext cx="1915560" cy="1248840"/>
            </a:xfrm>
            <a:custGeom>
              <a:avLst/>
              <a:gdLst>
                <a:gd name="textAreaLeft" fmla="*/ 0 w 1915560"/>
                <a:gd name="textAreaRight" fmla="*/ 1915920 w 1915560"/>
                <a:gd name="textAreaTop" fmla="*/ 0 h 1248840"/>
                <a:gd name="textAreaBottom" fmla="*/ 1249200 h 1248840"/>
              </a:gdLst>
              <a:ahLst/>
              <a:cxnLst/>
              <a:rect l="textAreaLeft" t="textAreaTop" r="textAreaRight" b="textAreaBottom"/>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sp>
          <p:nvSpPr>
            <p:cNvPr id="130" name="TextBox 13"/>
            <p:cNvSpPr/>
            <p:nvPr/>
          </p:nvSpPr>
          <p:spPr>
            <a:xfrm>
              <a:off x="475560" y="316440"/>
              <a:ext cx="1915560" cy="12916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240"/>
                </a:lnSpc>
              </a:pPr>
              <a:r>
                <a:rPr lang="en-US" sz="2700" dirty="0">
                  <a:solidFill>
                    <a:srgbClr val="000000"/>
                  </a:solidFill>
                  <a:latin typeface="Calibri (MS)"/>
                </a:rPr>
                <a:t>Tech Gladiators</a:t>
              </a:r>
              <a:endParaRPr lang="en-US" sz="2700" b="0" u="none" strike="noStrike" dirty="0">
                <a:solidFill>
                  <a:srgbClr val="000000"/>
                </a:solidFill>
                <a:uFillTx/>
                <a:latin typeface="Arial"/>
              </a:endParaRPr>
            </a:p>
          </p:txBody>
        </p:sp>
      </p:grpSp>
      <p:grpSp>
        <p:nvGrpSpPr>
          <p:cNvPr id="131" name="Group 14"/>
          <p:cNvGrpSpPr/>
          <p:nvPr/>
        </p:nvGrpSpPr>
        <p:grpSpPr>
          <a:xfrm>
            <a:off x="14863680" y="372600"/>
            <a:ext cx="2862000" cy="1311840"/>
            <a:chOff x="14863680" y="372600"/>
            <a:chExt cx="2862000" cy="1311840"/>
          </a:xfrm>
        </p:grpSpPr>
        <p:sp>
          <p:nvSpPr>
            <p:cNvPr id="132" name="Freeform 15"/>
            <p:cNvSpPr/>
            <p:nvPr/>
          </p:nvSpPr>
          <p:spPr>
            <a:xfrm>
              <a:off x="14863680" y="372600"/>
              <a:ext cx="2862000" cy="1311840"/>
            </a:xfrm>
            <a:custGeom>
              <a:avLst/>
              <a:gdLst>
                <a:gd name="textAreaLeft" fmla="*/ 0 w 2862000"/>
                <a:gd name="textAreaRight" fmla="*/ 2862360 w 2862000"/>
                <a:gd name="textAreaTop" fmla="*/ 0 h 1311840"/>
                <a:gd name="textAreaBottom" fmla="*/ 1312200 h 1311840"/>
              </a:gdLst>
              <a:ahLst/>
              <a:cxnLst/>
              <a:rect l="textAreaLeft" t="textAreaTop" r="textAreaRight" b="textAreaBottom"/>
              <a:pathLst>
                <a:path w="4571506" h="2095752">
                  <a:moveTo>
                    <a:pt x="0" y="0"/>
                  </a:moveTo>
                  <a:lnTo>
                    <a:pt x="4571506" y="0"/>
                  </a:lnTo>
                  <a:lnTo>
                    <a:pt x="4571506" y="2095752"/>
                  </a:lnTo>
                  <a:lnTo>
                    <a:pt x="0" y="2095752"/>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uFillTx/>
                <a:latin typeface="Arial"/>
              </a:endParaRPr>
            </a:p>
          </p:txBody>
        </p:sp>
      </p:grpSp>
      <p:sp>
        <p:nvSpPr>
          <p:cNvPr id="2" name="TextBox 1">
            <a:extLst>
              <a:ext uri="{FF2B5EF4-FFF2-40B4-BE49-F238E27FC236}">
                <a16:creationId xmlns:a16="http://schemas.microsoft.com/office/drawing/2014/main" id="{266AB72C-ED93-7E40-6D05-D9402B0A787E}"/>
              </a:ext>
            </a:extLst>
          </p:cNvPr>
          <p:cNvSpPr txBox="1"/>
          <p:nvPr/>
        </p:nvSpPr>
        <p:spPr>
          <a:xfrm>
            <a:off x="2130892" y="3016503"/>
            <a:ext cx="12946935" cy="4154984"/>
          </a:xfrm>
          <a:prstGeom prst="rect">
            <a:avLst/>
          </a:prstGeom>
          <a:noFill/>
        </p:spPr>
        <p:txBody>
          <a:bodyPr wrap="square" rtlCol="0">
            <a:spAutoFit/>
          </a:bodyPr>
          <a:lstStyle/>
          <a:p>
            <a:pPr marL="342900" indent="-342900">
              <a:buAutoNum type="arabicParenR"/>
            </a:pPr>
            <a:r>
              <a:rPr lang="en-US" sz="2400" dirty="0"/>
              <a:t>Lecture on BareMetal on the Edge : </a:t>
            </a:r>
            <a:r>
              <a:rPr lang="en-US" sz="2400" dirty="0" err="1"/>
              <a:t>Greginard</a:t>
            </a:r>
            <a:r>
              <a:rPr lang="en-US" sz="2400" dirty="0"/>
              <a:t> </a:t>
            </a:r>
            <a:r>
              <a:rPr lang="en-US" sz="2400" dirty="0" err="1"/>
              <a:t>Shimposwki</a:t>
            </a:r>
            <a:r>
              <a:rPr lang="en-US" sz="2400" dirty="0"/>
              <a:t>: Linux Open Source Summit- 2026</a:t>
            </a:r>
            <a:endParaRPr lang="en-IN" sz="2400" dirty="0"/>
          </a:p>
          <a:p>
            <a:pPr marL="342900" indent="-342900">
              <a:buAutoNum type="arabicParenR"/>
            </a:pPr>
            <a:r>
              <a:rPr lang="en-IN" sz="2400" dirty="0"/>
              <a:t>Kumar, K., Patel, S., &amp; </a:t>
            </a:r>
            <a:r>
              <a:rPr lang="en-IN" sz="2400" dirty="0" err="1"/>
              <a:t>Astya</a:t>
            </a:r>
            <a:r>
              <a:rPr lang="en-IN" sz="2400" dirty="0"/>
              <a:t>, R. (2025). "Smart Shelf Monitoring Using YOLO." </a:t>
            </a:r>
            <a:r>
              <a:rPr lang="en-IN" sz="2400" i="1" dirty="0"/>
              <a:t>2025 IEEE International Students' Conference on Electrical, Electronics and Computer Science</a:t>
            </a:r>
          </a:p>
          <a:p>
            <a:pPr marL="342900" indent="-342900">
              <a:buAutoNum type="arabicParenR"/>
            </a:pPr>
            <a:r>
              <a:rPr lang="en-IN" sz="2400" dirty="0"/>
              <a:t>Deshmukh, A., et al. (2024). "Real-Time Queue Detection and Management System Using YOLO Object Detection." </a:t>
            </a:r>
            <a:r>
              <a:rPr lang="en-IN" sz="2400" i="1" dirty="0"/>
              <a:t>Journal of Real-Time Image Processing / Applied Computer Vision Proceedings</a:t>
            </a:r>
          </a:p>
          <a:p>
            <a:pPr marL="342900" indent="-342900">
              <a:buAutoNum type="arabicParenR"/>
            </a:pPr>
            <a:r>
              <a:rPr lang="en-IN" sz="2400" dirty="0"/>
              <a:t>Redmon, J., </a:t>
            </a:r>
            <a:r>
              <a:rPr lang="en-IN" sz="2400" dirty="0" err="1"/>
              <a:t>Divvala</a:t>
            </a:r>
            <a:r>
              <a:rPr lang="en-IN" sz="2400" dirty="0"/>
              <a:t>, S., </a:t>
            </a:r>
            <a:r>
              <a:rPr lang="en-IN" sz="2400" dirty="0" err="1"/>
              <a:t>Girshick</a:t>
            </a:r>
            <a:r>
              <a:rPr lang="en-IN" sz="2400" dirty="0"/>
              <a:t>, R., &amp; Farhadi, A. (2016). "You Only Look Once: Unified, Real-Time Object Detection." </a:t>
            </a:r>
            <a:r>
              <a:rPr lang="en-IN" sz="2400" i="1" dirty="0"/>
              <a:t>Proceedings of the IEEE Conference on Computer Vision and Pattern Recognition (CVPR)</a:t>
            </a:r>
            <a:r>
              <a:rPr lang="en-IN" sz="2400" dirty="0"/>
              <a:t>, pp. 779–788.</a:t>
            </a:r>
          </a:p>
          <a:p>
            <a:pPr marL="342900" indent="-342900">
              <a:buAutoNum type="arabicParenR"/>
            </a:pPr>
            <a:r>
              <a:rPr lang="en-IN" sz="2400" dirty="0"/>
              <a:t>More, S., &amp; Deshpande, G. (2025). "Computer Vision (AI) Based Retailer Shelves Monitoring System." </a:t>
            </a:r>
            <a:r>
              <a:rPr lang="en-IN" sz="2400" i="1" dirty="0"/>
              <a:t>5th International Conference on Electrical, Computer, Communications and Mechatronics Engineering (ICECCME)</a:t>
            </a:r>
            <a:r>
              <a:rPr lang="en-IN" sz="2400" dirty="0"/>
              <a: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TotalTime>
  <Words>466</Words>
  <Application>Microsoft Office PowerPoint</Application>
  <PresentationFormat>Custom</PresentationFormat>
  <Paragraphs>52</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it addresses the problem: Enables real-time shopper analytics and inventory monitoring to reduce stock-outs and optimize staffing. Innovation and uniqueness of the solution : Privacy-first, fully offline system with no video/facial data storage or</dc:title>
  <dc:subject/>
  <dc:creator>Sai Pranav</dc:creator>
  <dc:description/>
  <cp:lastModifiedBy>Sai Pranav</cp:lastModifiedBy>
  <cp:revision>94</cp:revision>
  <dcterms:created xsi:type="dcterms:W3CDTF">2006-08-16T00:00:00Z</dcterms:created>
  <dcterms:modified xsi:type="dcterms:W3CDTF">2026-09-23T13:46:39Z</dcterms:modified>
  <dc:identifier>DAHTxpS7-Lc</dc:identifier>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